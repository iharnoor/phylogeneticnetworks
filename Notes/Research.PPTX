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 id="2147483673" r:id="rId2"/>
  </p:sldMasterIdLst>
  <p:notesMasterIdLst>
    <p:notesMasterId r:id="rId21"/>
  </p:notesMasterIdLst>
  <p:sldIdLst>
    <p:sldId id="256" r:id="rId3"/>
    <p:sldId id="257" r:id="rId4"/>
    <p:sldId id="271" r:id="rId5"/>
    <p:sldId id="272" r:id="rId6"/>
    <p:sldId id="274" r:id="rId7"/>
    <p:sldId id="273" r:id="rId8"/>
    <p:sldId id="276" r:id="rId9"/>
    <p:sldId id="275" r:id="rId10"/>
    <p:sldId id="259" r:id="rId11"/>
    <p:sldId id="260" r:id="rId12"/>
    <p:sldId id="261" r:id="rId13"/>
    <p:sldId id="262" r:id="rId14"/>
    <p:sldId id="263" r:id="rId15"/>
    <p:sldId id="269" r:id="rId16"/>
    <p:sldId id="268" r:id="rId17"/>
    <p:sldId id="270" r:id="rId18"/>
    <p:sldId id="264" r:id="rId19"/>
    <p:sldId id="265" r:id="rId20"/>
  </p:sldIdLst>
  <p:sldSz cx="9144000" cy="5143500" type="screen16x9"/>
  <p:notesSz cx="6858000" cy="9144000"/>
  <p:embeddedFontLst>
    <p:embeddedFont>
      <p:font typeface="Helvetica Neue Light" panose="020B0604020202020204" charset="0"/>
      <p:regular r:id="rId22"/>
      <p:bold r:id="rId23"/>
      <p:italic r:id="rId24"/>
      <p:boldItalic r:id="rId25"/>
    </p:embeddedFont>
    <p:embeddedFont>
      <p:font typeface="Jokerman" panose="04090605060D06020702" pitchFamily="82" charset="0"/>
      <p:regular r:id="rId26"/>
    </p:embeddedFont>
    <p:embeddedFont>
      <p:font typeface="Helvetica Neue" panose="020B0604020202020204"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835" autoAdjust="0"/>
  </p:normalViewPr>
  <p:slideViewPr>
    <p:cSldViewPr snapToGrid="0">
      <p:cViewPr>
        <p:scale>
          <a:sx n="100" d="100"/>
          <a:sy n="100" d="100"/>
        </p:scale>
        <p:origin x="1356" y="4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5.fntdata"/><Relationship Id="rId3" Type="http://schemas.openxmlformats.org/officeDocument/2006/relationships/slide" Target="slides/slide1.xml"/><Relationship Id="rId21" Type="http://schemas.openxmlformats.org/officeDocument/2006/relationships/notesMaster" Target="notesMasters/notesMaster1.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4.fntdata"/><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3.fntdata"/><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2.fntdata"/><Relationship Id="rId28" Type="http://schemas.openxmlformats.org/officeDocument/2006/relationships/font" Target="fonts/font7.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microsoft.com/office/2015/10/relationships/revisionInfo" Target="revisionInfo.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381300" y="685800"/>
            <a:ext cx="609607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Shape 4"/>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Shape 10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05" name="Shape 105"/>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Shape 11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11" name="Shape 11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US" dirty="0"/>
              <a:t>Why do we care?</a:t>
            </a:r>
            <a:endParaRPr lang="en" dirty="0"/>
          </a:p>
          <a:p>
            <a:pPr marL="0" lvl="0" indent="0">
              <a:spcBef>
                <a:spcPts val="0"/>
              </a:spcBef>
              <a:spcAft>
                <a:spcPts val="0"/>
              </a:spcAft>
              <a:buNone/>
            </a:pPr>
            <a:r>
              <a:rPr lang="en" dirty="0"/>
              <a:t>Phylogenetics studies evolution, which is depicted as a bifurcating tree. This tree represents the evolutionary history of 4 primates: human, chimpanzee, gorilla and orangutan. Humans and chimpanzees are sister species because they share a common ancestor (represented by the internal node in the tree).</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763838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87118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022533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Shape 12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21" name="Shape 12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Shape 12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26" name="Shape 12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But there are some species for which the tree is not a good representation of their history. For example, these fish can hybridize, and the green arrow represents gene flow between the yellow fish and the blue fish. This means that the genetic material of the blue fish has two separate origins: one which follows the tree path (in black) and one that follows the gene flow path (in green). Our goal is to reconstruct the network that represents the evolutionary history of some group.</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Shape 131"/>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32" name="Shape 13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Shape 15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51" name="Shape 15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Shape 15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56" name="Shape 15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Shape 16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61" name="Shape 16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Shape 16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67" name="Shape 167"/>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Shape 10"/>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Shape 11"/>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Shape 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Shape 1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Shape 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Shape 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Shape 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Shape 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Shape 22"/>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Shape 23"/>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Shape 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Shape 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Shape 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Shape 2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Shape 3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Shape 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Shape 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Shape 36"/>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37" name="Shape 37"/>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Shape 38"/>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Shape 3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Shape 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Shape 4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lstStyle>
            <a:lvl1pPr marL="457200" lvl="0" indent="-228600">
              <a:lnSpc>
                <a:spcPct val="100000"/>
              </a:lnSpc>
              <a:spcBef>
                <a:spcPts val="0"/>
              </a:spcBef>
              <a:spcAft>
                <a:spcPts val="0"/>
              </a:spcAft>
              <a:buSzPts val="1800"/>
              <a:buNone/>
              <a:defRPr/>
            </a:lvl1pPr>
          </a:lstStyle>
          <a:p>
            <a:endParaRPr/>
          </a:p>
        </p:txBody>
      </p:sp>
      <p:sp>
        <p:nvSpPr>
          <p:cNvPr id="43" name="Shape 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Shape 45"/>
          <p:cNvSpPr txBox="1">
            <a:spLocks noGrp="1"/>
          </p:cNvSpPr>
          <p:nvPr>
            <p:ph type="title"/>
          </p:nvPr>
        </p:nvSpPr>
        <p:spPr>
          <a:xfrm>
            <a:off x="311700" y="1106125"/>
            <a:ext cx="8520600" cy="1963500"/>
          </a:xfrm>
          <a:prstGeom prst="rect">
            <a:avLst/>
          </a:prstGeom>
        </p:spPr>
        <p:txBody>
          <a:bodyPr spcFirstLastPara="1" wrap="square" lIns="91425" tIns="91425" rIns="91425" bIns="91425" anchor="b" anchorCtr="0"/>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endParaRPr/>
          </a:p>
        </p:txBody>
      </p:sp>
      <p:sp>
        <p:nvSpPr>
          <p:cNvPr id="46" name="Shape 46"/>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Shape 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Shape 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54"/>
        <p:cNvGrpSpPr/>
        <p:nvPr/>
      </p:nvGrpSpPr>
      <p:grpSpPr>
        <a:xfrm>
          <a:off x="0" y="0"/>
          <a:ext cx="0" cy="0"/>
          <a:chOff x="0" y="0"/>
          <a:chExt cx="0" cy="0"/>
        </a:xfrm>
      </p:grpSpPr>
      <p:sp>
        <p:nvSpPr>
          <p:cNvPr id="55" name="Shape 55"/>
          <p:cNvSpPr txBox="1">
            <a:spLocks noGrp="1"/>
          </p:cNvSpPr>
          <p:nvPr>
            <p:ph type="title"/>
          </p:nvPr>
        </p:nvSpPr>
        <p:spPr>
          <a:xfrm>
            <a:off x="892969" y="863947"/>
            <a:ext cx="7358063" cy="1741289"/>
          </a:xfrm>
          <a:prstGeom prst="rect">
            <a:avLst/>
          </a:prstGeom>
          <a:noFill/>
          <a:ln>
            <a:noFill/>
          </a:ln>
        </p:spPr>
        <p:txBody>
          <a:bodyPr spcFirstLastPara="1" wrap="square" lIns="58925" tIns="58925" rIns="58925" bIns="58925" anchor="b"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6" name="Shape 56"/>
          <p:cNvSpPr txBox="1">
            <a:spLocks noGrp="1"/>
          </p:cNvSpPr>
          <p:nvPr>
            <p:ph type="body" idx="1"/>
          </p:nvPr>
        </p:nvSpPr>
        <p:spPr>
          <a:xfrm>
            <a:off x="892969" y="2652117"/>
            <a:ext cx="7358063" cy="596057"/>
          </a:xfrm>
          <a:prstGeom prst="rect">
            <a:avLst/>
          </a:prstGeom>
          <a:noFill/>
          <a:ln>
            <a:noFill/>
          </a:ln>
        </p:spPr>
        <p:txBody>
          <a:bodyPr spcFirstLastPara="1" wrap="square" lIns="58925" tIns="58925" rIns="58925" bIns="58925" anchor="t" anchorCtr="0"/>
          <a:lstStyle>
            <a:lvl1pPr marL="457200" marR="0" lvl="0"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1pPr>
            <a:lvl2pPr marL="914400" marR="0" lvl="1"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2pPr>
            <a:lvl3pPr marL="1371600" marR="0" lvl="2"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3pPr>
            <a:lvl4pPr marL="1828800" marR="0" lvl="3"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4pPr>
            <a:lvl5pPr marL="2286000" marR="0" lvl="4"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7" name="Shape 57"/>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 Center" type="tx">
  <p:cSld name="TITLE_AND_BODY">
    <p:spTree>
      <p:nvGrpSpPr>
        <p:cNvPr id="1" name="Shape 58"/>
        <p:cNvGrpSpPr/>
        <p:nvPr/>
      </p:nvGrpSpPr>
      <p:grpSpPr>
        <a:xfrm>
          <a:off x="0" y="0"/>
          <a:ext cx="0" cy="0"/>
          <a:chOff x="0" y="0"/>
          <a:chExt cx="0" cy="0"/>
        </a:xfrm>
      </p:grpSpPr>
      <p:sp>
        <p:nvSpPr>
          <p:cNvPr id="59" name="Shape 59"/>
          <p:cNvSpPr txBox="1">
            <a:spLocks noGrp="1"/>
          </p:cNvSpPr>
          <p:nvPr>
            <p:ph type="title"/>
          </p:nvPr>
        </p:nvSpPr>
        <p:spPr>
          <a:xfrm>
            <a:off x="892969" y="1701105"/>
            <a:ext cx="7358063" cy="1741289"/>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4200"/>
              <a:buFont typeface="Helvetica Neue Light"/>
              <a:buNone/>
              <a:defRPr sz="4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0" name="Shape 60"/>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hoto - Horizontal">
  <p:cSld name="Photo - Horizontal">
    <p:spTree>
      <p:nvGrpSpPr>
        <p:cNvPr id="1" name="Shape 61"/>
        <p:cNvGrpSpPr/>
        <p:nvPr/>
      </p:nvGrpSpPr>
      <p:grpSpPr>
        <a:xfrm>
          <a:off x="0" y="0"/>
          <a:ext cx="0" cy="0"/>
          <a:chOff x="0" y="0"/>
          <a:chExt cx="0" cy="0"/>
        </a:xfrm>
      </p:grpSpPr>
      <p:sp>
        <p:nvSpPr>
          <p:cNvPr id="62" name="Shape 62"/>
          <p:cNvSpPr>
            <a:spLocks noGrp="1"/>
          </p:cNvSpPr>
          <p:nvPr>
            <p:ph type="pic" idx="2"/>
          </p:nvPr>
        </p:nvSpPr>
        <p:spPr>
          <a:xfrm>
            <a:off x="1129605" y="334863"/>
            <a:ext cx="6875859" cy="3120926"/>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3" name="Shape 63"/>
          <p:cNvSpPr txBox="1">
            <a:spLocks noGrp="1"/>
          </p:cNvSpPr>
          <p:nvPr>
            <p:ph type="title"/>
          </p:nvPr>
        </p:nvSpPr>
        <p:spPr>
          <a:xfrm>
            <a:off x="892969" y="3542854"/>
            <a:ext cx="7358063" cy="750094"/>
          </a:xfrm>
          <a:prstGeom prst="rect">
            <a:avLst/>
          </a:prstGeom>
          <a:noFill/>
          <a:ln>
            <a:noFill/>
          </a:ln>
        </p:spPr>
        <p:txBody>
          <a:bodyPr spcFirstLastPara="1" wrap="square" lIns="58925" tIns="58925" rIns="58925" bIns="58925" anchor="b"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4" name="Shape 64"/>
          <p:cNvSpPr txBox="1">
            <a:spLocks noGrp="1"/>
          </p:cNvSpPr>
          <p:nvPr>
            <p:ph type="body" idx="1"/>
          </p:nvPr>
        </p:nvSpPr>
        <p:spPr>
          <a:xfrm>
            <a:off x="892969" y="4319736"/>
            <a:ext cx="7358063" cy="596057"/>
          </a:xfrm>
          <a:prstGeom prst="rect">
            <a:avLst/>
          </a:prstGeom>
          <a:noFill/>
          <a:ln>
            <a:noFill/>
          </a:ln>
        </p:spPr>
        <p:txBody>
          <a:bodyPr spcFirstLastPara="1" wrap="square" lIns="58925" tIns="58925" rIns="58925" bIns="58925" anchor="t" anchorCtr="0"/>
          <a:lstStyle>
            <a:lvl1pPr marL="457200" marR="0" lvl="0"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1pPr>
            <a:lvl2pPr marL="914400" marR="0" lvl="1"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2pPr>
            <a:lvl3pPr marL="1371600" marR="0" lvl="2"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3pPr>
            <a:lvl4pPr marL="1828800" marR="0" lvl="3"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4pPr>
            <a:lvl5pPr marL="2286000" marR="0" lvl="4"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5" name="Shape 65"/>
          <p:cNvSpPr txBox="1">
            <a:spLocks noGrp="1"/>
          </p:cNvSpPr>
          <p:nvPr>
            <p:ph type="sldNum" idx="12"/>
          </p:nvPr>
        </p:nvSpPr>
        <p:spPr>
          <a:xfrm>
            <a:off x="4437983" y="4875609"/>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66"/>
        <p:cNvGrpSpPr/>
        <p:nvPr/>
      </p:nvGrpSpPr>
      <p:grpSpPr>
        <a:xfrm>
          <a:off x="0" y="0"/>
          <a:ext cx="0" cy="0"/>
          <a:chOff x="0" y="0"/>
          <a:chExt cx="0" cy="0"/>
        </a:xfrm>
      </p:grpSpPr>
      <p:sp>
        <p:nvSpPr>
          <p:cNvPr id="67" name="Shape 67"/>
          <p:cNvSpPr txBox="1">
            <a:spLocks noGrp="1"/>
          </p:cNvSpPr>
          <p:nvPr>
            <p:ph type="title"/>
          </p:nvPr>
        </p:nvSpPr>
        <p:spPr>
          <a:xfrm>
            <a:off x="892969" y="1701105"/>
            <a:ext cx="7358063" cy="1741289"/>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8" name="Shape 68"/>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69"/>
        <p:cNvGrpSpPr/>
        <p:nvPr/>
      </p:nvGrpSpPr>
      <p:grpSpPr>
        <a:xfrm>
          <a:off x="0" y="0"/>
          <a:ext cx="0" cy="0"/>
          <a:chOff x="0" y="0"/>
          <a:chExt cx="0" cy="0"/>
        </a:xfrm>
      </p:grpSpPr>
      <p:sp>
        <p:nvSpPr>
          <p:cNvPr id="70" name="Shape 70"/>
          <p:cNvSpPr>
            <a:spLocks noGrp="1"/>
          </p:cNvSpPr>
          <p:nvPr>
            <p:ph type="pic" idx="2"/>
          </p:nvPr>
        </p:nvSpPr>
        <p:spPr>
          <a:xfrm>
            <a:off x="4723805" y="334863"/>
            <a:ext cx="3750469" cy="4339828"/>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1" name="Shape 71"/>
          <p:cNvSpPr txBox="1">
            <a:spLocks noGrp="1"/>
          </p:cNvSpPr>
          <p:nvPr>
            <p:ph type="title"/>
          </p:nvPr>
        </p:nvSpPr>
        <p:spPr>
          <a:xfrm>
            <a:off x="669727" y="334863"/>
            <a:ext cx="3750469" cy="2102941"/>
          </a:xfrm>
          <a:prstGeom prst="rect">
            <a:avLst/>
          </a:prstGeom>
          <a:noFill/>
          <a:ln>
            <a:noFill/>
          </a:ln>
        </p:spPr>
        <p:txBody>
          <a:bodyPr spcFirstLastPara="1" wrap="square" lIns="58925" tIns="58925" rIns="58925" bIns="58925" anchor="b" anchorCtr="0"/>
          <a:lstStyle>
            <a:lvl1pPr marR="0" lvl="0" algn="ctr" rtl="0">
              <a:lnSpc>
                <a:spcPct val="100000"/>
              </a:lnSpc>
              <a:spcBef>
                <a:spcPts val="0"/>
              </a:spcBef>
              <a:spcAft>
                <a:spcPts val="0"/>
              </a:spcAft>
              <a:buClr>
                <a:srgbClr val="000000"/>
              </a:buClr>
              <a:buSzPts val="3900"/>
              <a:buFont typeface="Helvetica Neue Light"/>
              <a:buNone/>
              <a:defRPr sz="39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2" name="Shape 72"/>
          <p:cNvSpPr txBox="1">
            <a:spLocks noGrp="1"/>
          </p:cNvSpPr>
          <p:nvPr>
            <p:ph type="body" idx="1"/>
          </p:nvPr>
        </p:nvSpPr>
        <p:spPr>
          <a:xfrm>
            <a:off x="669727" y="2511475"/>
            <a:ext cx="3750469" cy="2163217"/>
          </a:xfrm>
          <a:prstGeom prst="rect">
            <a:avLst/>
          </a:prstGeom>
          <a:noFill/>
          <a:ln>
            <a:noFill/>
          </a:ln>
        </p:spPr>
        <p:txBody>
          <a:bodyPr spcFirstLastPara="1" wrap="square" lIns="58925" tIns="58925" rIns="58925" bIns="58925" anchor="t" anchorCtr="0"/>
          <a:lstStyle>
            <a:lvl1pPr marL="457200" marR="0" lvl="0"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1pPr>
            <a:lvl2pPr marL="914400" marR="0" lvl="1"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2pPr>
            <a:lvl3pPr marL="1371600" marR="0" lvl="2"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3pPr>
            <a:lvl4pPr marL="1828800" marR="0" lvl="3"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4pPr>
            <a:lvl5pPr marL="2286000" marR="0" lvl="4"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3" name="Shape 73"/>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74"/>
        <p:cNvGrpSpPr/>
        <p:nvPr/>
      </p:nvGrpSpPr>
      <p:grpSpPr>
        <a:xfrm>
          <a:off x="0" y="0"/>
          <a:ext cx="0" cy="0"/>
          <a:chOff x="0" y="0"/>
          <a:chExt cx="0" cy="0"/>
        </a:xfrm>
      </p:grpSpPr>
      <p:sp>
        <p:nvSpPr>
          <p:cNvPr id="75" name="Shape 75"/>
          <p:cNvSpPr txBox="1">
            <a:spLocks noGrp="1"/>
          </p:cNvSpPr>
          <p:nvPr>
            <p:ph type="title"/>
          </p:nvPr>
        </p:nvSpPr>
        <p:spPr>
          <a:xfrm>
            <a:off x="669727" y="234404"/>
            <a:ext cx="7804547" cy="1138535"/>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6" name="Shape 76"/>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77"/>
        <p:cNvGrpSpPr/>
        <p:nvPr/>
      </p:nvGrpSpPr>
      <p:grpSpPr>
        <a:xfrm>
          <a:off x="0" y="0"/>
          <a:ext cx="0" cy="0"/>
          <a:chOff x="0" y="0"/>
          <a:chExt cx="0" cy="0"/>
        </a:xfrm>
      </p:grpSpPr>
      <p:sp>
        <p:nvSpPr>
          <p:cNvPr id="78" name="Shape 78"/>
          <p:cNvSpPr txBox="1">
            <a:spLocks noGrp="1"/>
          </p:cNvSpPr>
          <p:nvPr>
            <p:ph type="title"/>
          </p:nvPr>
        </p:nvSpPr>
        <p:spPr>
          <a:xfrm>
            <a:off x="669727" y="234404"/>
            <a:ext cx="7804547" cy="1138535"/>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9" name="Shape 79"/>
          <p:cNvSpPr txBox="1">
            <a:spLocks noGrp="1"/>
          </p:cNvSpPr>
          <p:nvPr>
            <p:ph type="body" idx="1"/>
          </p:nvPr>
        </p:nvSpPr>
        <p:spPr>
          <a:xfrm>
            <a:off x="669727" y="1372939"/>
            <a:ext cx="7804547" cy="3315146"/>
          </a:xfrm>
          <a:prstGeom prst="rect">
            <a:avLst/>
          </a:prstGeom>
          <a:noFill/>
          <a:ln>
            <a:noFill/>
          </a:ln>
        </p:spPr>
        <p:txBody>
          <a:bodyPr spcFirstLastPara="1" wrap="square" lIns="58925" tIns="58925" rIns="58925" bIns="58925" anchor="ctr" anchorCtr="0"/>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0" name="Shape 80"/>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81"/>
        <p:cNvGrpSpPr/>
        <p:nvPr/>
      </p:nvGrpSpPr>
      <p:grpSpPr>
        <a:xfrm>
          <a:off x="0" y="0"/>
          <a:ext cx="0" cy="0"/>
          <a:chOff x="0" y="0"/>
          <a:chExt cx="0" cy="0"/>
        </a:xfrm>
      </p:grpSpPr>
      <p:sp>
        <p:nvSpPr>
          <p:cNvPr id="82" name="Shape 82"/>
          <p:cNvSpPr>
            <a:spLocks noGrp="1"/>
          </p:cNvSpPr>
          <p:nvPr>
            <p:ph type="pic" idx="2"/>
          </p:nvPr>
        </p:nvSpPr>
        <p:spPr>
          <a:xfrm>
            <a:off x="4723805" y="1372939"/>
            <a:ext cx="3750469" cy="3315146"/>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3" name="Shape 83"/>
          <p:cNvSpPr txBox="1">
            <a:spLocks noGrp="1"/>
          </p:cNvSpPr>
          <p:nvPr>
            <p:ph type="title"/>
          </p:nvPr>
        </p:nvSpPr>
        <p:spPr>
          <a:xfrm>
            <a:off x="669727" y="234404"/>
            <a:ext cx="7804547" cy="1138535"/>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4" name="Shape 84"/>
          <p:cNvSpPr txBox="1">
            <a:spLocks noGrp="1"/>
          </p:cNvSpPr>
          <p:nvPr>
            <p:ph type="body" idx="1"/>
          </p:nvPr>
        </p:nvSpPr>
        <p:spPr>
          <a:xfrm>
            <a:off x="669727" y="1372939"/>
            <a:ext cx="3750469" cy="3315146"/>
          </a:xfrm>
          <a:prstGeom prst="rect">
            <a:avLst/>
          </a:prstGeom>
          <a:noFill/>
          <a:ln>
            <a:noFill/>
          </a:ln>
        </p:spPr>
        <p:txBody>
          <a:bodyPr spcFirstLastPara="1" wrap="square" lIns="58925" tIns="58925" rIns="58925" bIns="58925" anchor="ctr" anchorCtr="0"/>
          <a:lstStyle>
            <a:lvl1pPr marL="457200" marR="0" lvl="0"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1pPr>
            <a:lvl2pPr marL="914400" marR="0" lvl="1"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2pPr>
            <a:lvl3pPr marL="1371600" marR="0" lvl="2"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3pPr>
            <a:lvl4pPr marL="1828800" marR="0" lvl="3"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4pPr>
            <a:lvl5pPr marL="2286000" marR="0" lvl="4"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5" name="Shape 85"/>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86"/>
        <p:cNvGrpSpPr/>
        <p:nvPr/>
      </p:nvGrpSpPr>
      <p:grpSpPr>
        <a:xfrm>
          <a:off x="0" y="0"/>
          <a:ext cx="0" cy="0"/>
          <a:chOff x="0" y="0"/>
          <a:chExt cx="0" cy="0"/>
        </a:xfrm>
      </p:grpSpPr>
      <p:sp>
        <p:nvSpPr>
          <p:cNvPr id="87" name="Shape 87"/>
          <p:cNvSpPr txBox="1">
            <a:spLocks noGrp="1"/>
          </p:cNvSpPr>
          <p:nvPr>
            <p:ph type="body" idx="1"/>
          </p:nvPr>
        </p:nvSpPr>
        <p:spPr>
          <a:xfrm>
            <a:off x="669727" y="669727"/>
            <a:ext cx="7804547" cy="3804047"/>
          </a:xfrm>
          <a:prstGeom prst="rect">
            <a:avLst/>
          </a:prstGeom>
          <a:noFill/>
          <a:ln>
            <a:noFill/>
          </a:ln>
        </p:spPr>
        <p:txBody>
          <a:bodyPr spcFirstLastPara="1" wrap="square" lIns="58925" tIns="58925" rIns="58925" bIns="58925" anchor="ctr" anchorCtr="0"/>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8" name="Shape 88"/>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89"/>
        <p:cNvGrpSpPr/>
        <p:nvPr/>
      </p:nvGrpSpPr>
      <p:grpSpPr>
        <a:xfrm>
          <a:off x="0" y="0"/>
          <a:ext cx="0" cy="0"/>
          <a:chOff x="0" y="0"/>
          <a:chExt cx="0" cy="0"/>
        </a:xfrm>
      </p:grpSpPr>
      <p:sp>
        <p:nvSpPr>
          <p:cNvPr id="90" name="Shape 90"/>
          <p:cNvSpPr>
            <a:spLocks noGrp="1"/>
          </p:cNvSpPr>
          <p:nvPr>
            <p:ph type="pic" idx="2"/>
          </p:nvPr>
        </p:nvSpPr>
        <p:spPr>
          <a:xfrm>
            <a:off x="4723805" y="2685604"/>
            <a:ext cx="3750469" cy="1989088"/>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1" name="Shape 91"/>
          <p:cNvSpPr>
            <a:spLocks noGrp="1"/>
          </p:cNvSpPr>
          <p:nvPr>
            <p:ph type="pic" idx="3"/>
          </p:nvPr>
        </p:nvSpPr>
        <p:spPr>
          <a:xfrm>
            <a:off x="4728177" y="468809"/>
            <a:ext cx="3750469" cy="1989088"/>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2" name="Shape 92"/>
          <p:cNvSpPr>
            <a:spLocks noGrp="1"/>
          </p:cNvSpPr>
          <p:nvPr>
            <p:ph type="pic" idx="4"/>
          </p:nvPr>
        </p:nvSpPr>
        <p:spPr>
          <a:xfrm>
            <a:off x="669727" y="468809"/>
            <a:ext cx="3750469" cy="4205883"/>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3" name="Shape 93"/>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94"/>
        <p:cNvGrpSpPr/>
        <p:nvPr/>
      </p:nvGrpSpPr>
      <p:grpSpPr>
        <a:xfrm>
          <a:off x="0" y="0"/>
          <a:ext cx="0" cy="0"/>
          <a:chOff x="0" y="0"/>
          <a:chExt cx="0" cy="0"/>
        </a:xfrm>
      </p:grpSpPr>
      <p:sp>
        <p:nvSpPr>
          <p:cNvPr id="95" name="Shape 95"/>
          <p:cNvSpPr txBox="1">
            <a:spLocks noGrp="1"/>
          </p:cNvSpPr>
          <p:nvPr>
            <p:ph type="body" idx="1"/>
          </p:nvPr>
        </p:nvSpPr>
        <p:spPr>
          <a:xfrm>
            <a:off x="892969" y="3355330"/>
            <a:ext cx="7358063" cy="247799"/>
          </a:xfrm>
          <a:prstGeom prst="rect">
            <a:avLst/>
          </a:prstGeom>
          <a:noFill/>
          <a:ln>
            <a:noFill/>
          </a:ln>
        </p:spPr>
        <p:txBody>
          <a:bodyPr spcFirstLastPara="1" wrap="square" lIns="58925" tIns="58925" rIns="58925" bIns="58925" anchor="t" anchorCtr="0"/>
          <a:lstStyle>
            <a:lvl1pPr marL="457200" marR="0" lvl="0" indent="-228600" algn="ctr" rtl="0">
              <a:lnSpc>
                <a:spcPct val="100000"/>
              </a:lnSpc>
              <a:spcBef>
                <a:spcPts val="0"/>
              </a:spcBef>
              <a:spcAft>
                <a:spcPts val="0"/>
              </a:spcAft>
              <a:buClr>
                <a:srgbClr val="000000"/>
              </a:buClr>
              <a:buSzPts val="1500"/>
              <a:buFont typeface="Helvetica Neue"/>
              <a:buNone/>
              <a:defRPr sz="1500" b="0" i="0" u="none" strike="noStrike" cap="none">
                <a:solidFill>
                  <a:srgbClr val="000000"/>
                </a:solidFill>
                <a:latin typeface="Helvetica Neue"/>
                <a:ea typeface="Helvetica Neue"/>
                <a:cs typeface="Helvetica Neue"/>
                <a:sym typeface="Helvetica Neue"/>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6" name="Shape 96"/>
          <p:cNvSpPr txBox="1">
            <a:spLocks noGrp="1"/>
          </p:cNvSpPr>
          <p:nvPr>
            <p:ph type="body" idx="2"/>
          </p:nvPr>
        </p:nvSpPr>
        <p:spPr>
          <a:xfrm>
            <a:off x="892969" y="2250281"/>
            <a:ext cx="7358063" cy="361652"/>
          </a:xfrm>
          <a:prstGeom prst="rect">
            <a:avLst/>
          </a:prstGeom>
          <a:noFill/>
          <a:ln>
            <a:noFill/>
          </a:ln>
        </p:spPr>
        <p:txBody>
          <a:bodyPr spcFirstLastPara="1" wrap="square" lIns="58925" tIns="58925" rIns="58925" bIns="58925" anchor="ctr" anchorCtr="0"/>
          <a:lstStyle>
            <a:lvl1pPr marL="457200" marR="0" lvl="0" indent="-228600" algn="ctr" rtl="0">
              <a:lnSpc>
                <a:spcPct val="100000"/>
              </a:lnSpc>
              <a:spcBef>
                <a:spcPts val="0"/>
              </a:spcBef>
              <a:spcAft>
                <a:spcPts val="0"/>
              </a:spcAft>
              <a:buClr>
                <a:srgbClr val="000000"/>
              </a:buClr>
              <a:buSzPts val="2400"/>
              <a:buFont typeface="Helvetica Neue Light"/>
              <a:buNone/>
              <a:defRPr sz="24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7" name="Shape 97"/>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98"/>
        <p:cNvGrpSpPr/>
        <p:nvPr/>
      </p:nvGrpSpPr>
      <p:grpSpPr>
        <a:xfrm>
          <a:off x="0" y="0"/>
          <a:ext cx="0" cy="0"/>
          <a:chOff x="0" y="0"/>
          <a:chExt cx="0" cy="0"/>
        </a:xfrm>
      </p:grpSpPr>
      <p:sp>
        <p:nvSpPr>
          <p:cNvPr id="99" name="Shape 99"/>
          <p:cNvSpPr>
            <a:spLocks noGrp="1"/>
          </p:cNvSpPr>
          <p:nvPr>
            <p:ph type="pic" idx="2"/>
          </p:nvPr>
        </p:nvSpPr>
        <p:spPr>
          <a:xfrm>
            <a:off x="0" y="0"/>
            <a:ext cx="9144000" cy="5143500"/>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100" name="Shape 100"/>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01"/>
        <p:cNvGrpSpPr/>
        <p:nvPr/>
      </p:nvGrpSpPr>
      <p:grpSpPr>
        <a:xfrm>
          <a:off x="0" y="0"/>
          <a:ext cx="0" cy="0"/>
          <a:chOff x="0" y="0"/>
          <a:chExt cx="0" cy="0"/>
        </a:xfrm>
      </p:grpSpPr>
      <p:sp>
        <p:nvSpPr>
          <p:cNvPr id="102" name="Shape 102"/>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Shape 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Shape 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
        <p:cNvGrpSpPr/>
        <p:nvPr/>
      </p:nvGrpSpPr>
      <p:grpSpPr>
        <a:xfrm>
          <a:off x="0" y="0"/>
          <a:ext cx="0" cy="0"/>
          <a:chOff x="0" y="0"/>
          <a:chExt cx="0" cy="0"/>
        </a:xfrm>
      </p:grpSpPr>
      <p:sp>
        <p:nvSpPr>
          <p:cNvPr id="51" name="Shape 51"/>
          <p:cNvSpPr txBox="1">
            <a:spLocks noGrp="1"/>
          </p:cNvSpPr>
          <p:nvPr>
            <p:ph type="title"/>
          </p:nvPr>
        </p:nvSpPr>
        <p:spPr>
          <a:xfrm>
            <a:off x="669727" y="234404"/>
            <a:ext cx="7804547" cy="1138535"/>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2" name="Shape 52"/>
          <p:cNvSpPr txBox="1">
            <a:spLocks noGrp="1"/>
          </p:cNvSpPr>
          <p:nvPr>
            <p:ph type="body" idx="1"/>
          </p:nvPr>
        </p:nvSpPr>
        <p:spPr>
          <a:xfrm>
            <a:off x="669727" y="1372939"/>
            <a:ext cx="7804547" cy="3315146"/>
          </a:xfrm>
          <a:prstGeom prst="rect">
            <a:avLst/>
          </a:prstGeom>
          <a:noFill/>
          <a:ln>
            <a:noFill/>
          </a:ln>
        </p:spPr>
        <p:txBody>
          <a:bodyPr spcFirstLastPara="1" wrap="square" lIns="58925" tIns="58925" rIns="58925" bIns="58925" anchor="ctr" anchorCtr="0"/>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3" name="Shape 53"/>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11.xml"/><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1.xml"/><Relationship Id="rId5" Type="http://schemas.openxmlformats.org/officeDocument/2006/relationships/image" Target="../media/image4.jpeg"/><Relationship Id="rId4"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1.xml"/><Relationship Id="rId5" Type="http://schemas.openxmlformats.org/officeDocument/2006/relationships/image" Target="../media/image4.jpeg"/><Relationship Id="rId4"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1.xml"/><Relationship Id="rId5" Type="http://schemas.openxmlformats.org/officeDocument/2006/relationships/image" Target="../media/image4.jpeg"/><Relationship Id="rId4"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7.jpg"/><Relationship Id="rId7"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0.jpg"/><Relationship Id="rId5" Type="http://schemas.openxmlformats.org/officeDocument/2006/relationships/image" Target="../media/image9.jp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Shape 107"/>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p>
            <a:pPr marL="0" lvl="0" indent="0">
              <a:spcBef>
                <a:spcPts val="0"/>
              </a:spcBef>
              <a:spcAft>
                <a:spcPts val="0"/>
              </a:spcAft>
              <a:buNone/>
            </a:pPr>
            <a:r>
              <a:rPr lang="en"/>
              <a:t>Phylogenetic Introduction</a:t>
            </a:r>
            <a:endParaRPr/>
          </a:p>
        </p:txBody>
      </p:sp>
      <p:sp>
        <p:nvSpPr>
          <p:cNvPr id="108" name="Shape 108"/>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pic>
        <p:nvPicPr>
          <p:cNvPr id="113" name="Shape 113"/>
          <p:cNvPicPr preferRelativeResize="0"/>
          <p:nvPr/>
        </p:nvPicPr>
        <p:blipFill>
          <a:blip r:embed="rId3">
            <a:alphaModFix/>
          </a:blip>
          <a:stretch>
            <a:fillRect/>
          </a:stretch>
        </p:blipFill>
        <p:spPr>
          <a:xfrm>
            <a:off x="1501775" y="152400"/>
            <a:ext cx="6140450" cy="48387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Arrow Connector 2">
            <a:extLst>
              <a:ext uri="{FF2B5EF4-FFF2-40B4-BE49-F238E27FC236}">
                <a16:creationId xmlns:a16="http://schemas.microsoft.com/office/drawing/2014/main" id="{BFB1E7CC-B08C-40CB-8E83-BA1B712ED467}"/>
              </a:ext>
            </a:extLst>
          </p:cNvPr>
          <p:cNvCxnSpPr/>
          <p:nvPr/>
        </p:nvCxnSpPr>
        <p:spPr>
          <a:xfrm>
            <a:off x="4495800" y="666750"/>
            <a:ext cx="0" cy="1304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050" name="Picture 2" descr="https://lh5.googleusercontent.com/wExclAsyn0mb0m8c8vpDgLBfbmAicU2p4MQWuVOxxLQPnr7nyatabp719iZalUfPkEsT7DDX5y8ja9fJwV8eeuWoA91j2YGp8UP3-4uUgm_5lx4azOiRq2ZVqLyPM6-jI4GWDyLMyUI">
            <a:extLst>
              <a:ext uri="{FF2B5EF4-FFF2-40B4-BE49-F238E27FC236}">
                <a16:creationId xmlns:a16="http://schemas.microsoft.com/office/drawing/2014/main" id="{6C350FC1-9CA7-4270-9EB1-CB31DE9634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71900" y="2109061"/>
            <a:ext cx="1628775" cy="2015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195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Arrow Connector 1">
            <a:extLst>
              <a:ext uri="{FF2B5EF4-FFF2-40B4-BE49-F238E27FC236}">
                <a16:creationId xmlns:a16="http://schemas.microsoft.com/office/drawing/2014/main" id="{9995A7E1-A1A0-47BF-98B6-BF10EF5BFC70}"/>
              </a:ext>
            </a:extLst>
          </p:cNvPr>
          <p:cNvCxnSpPr>
            <a:cxnSpLocks/>
          </p:cNvCxnSpPr>
          <p:nvPr/>
        </p:nvCxnSpPr>
        <p:spPr>
          <a:xfrm>
            <a:off x="4505325" y="790575"/>
            <a:ext cx="1009650"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 name="Picture 2" descr="https://lh5.googleusercontent.com/wExclAsyn0mb0m8c8vpDgLBfbmAicU2p4MQWuVOxxLQPnr7nyatabp719iZalUfPkEsT7DDX5y8ja9fJwV8eeuWoA91j2YGp8UP3-4uUgm_5lx4azOiRq2ZVqLyPM6-jI4GWDyLMyUI">
            <a:extLst>
              <a:ext uri="{FF2B5EF4-FFF2-40B4-BE49-F238E27FC236}">
                <a16:creationId xmlns:a16="http://schemas.microsoft.com/office/drawing/2014/main" id="{AC05055F-EA1C-4572-A038-64BEB9E17F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33950" y="2004286"/>
            <a:ext cx="1485900" cy="1838486"/>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D9D17918-2860-4A4C-89A8-83301E834A5F}"/>
              </a:ext>
            </a:extLst>
          </p:cNvPr>
          <p:cNvCxnSpPr>
            <a:cxnSpLocks/>
          </p:cNvCxnSpPr>
          <p:nvPr/>
        </p:nvCxnSpPr>
        <p:spPr>
          <a:xfrm flipH="1">
            <a:off x="3505200" y="790575"/>
            <a:ext cx="1000125"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74" name="Picture 2" descr="https://lh6.googleusercontent.com/Mn7JHezbQkpJFBES4ZenNEICvcx1yCXDLq1moMAsgmyDU4-_xNf6NLsWuM_lmDGKWjsUvoaWtb1ttDjLZO6zb0ASPFHObYbE2M0aHR9FH39B8OSrgrnhFvQZZ1qIrUeMM8In2zx8uic">
            <a:extLst>
              <a:ext uri="{FF2B5EF4-FFF2-40B4-BE49-F238E27FC236}">
                <a16:creationId xmlns:a16="http://schemas.microsoft.com/office/drawing/2014/main" id="{344A2DE9-A9D9-4249-A992-959E7C3694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1126" y="2004286"/>
            <a:ext cx="1472206" cy="18438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061737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Arrow Connector 1">
            <a:extLst>
              <a:ext uri="{FF2B5EF4-FFF2-40B4-BE49-F238E27FC236}">
                <a16:creationId xmlns:a16="http://schemas.microsoft.com/office/drawing/2014/main" id="{9995A7E1-A1A0-47BF-98B6-BF10EF5BFC70}"/>
              </a:ext>
            </a:extLst>
          </p:cNvPr>
          <p:cNvCxnSpPr>
            <a:cxnSpLocks/>
          </p:cNvCxnSpPr>
          <p:nvPr/>
        </p:nvCxnSpPr>
        <p:spPr>
          <a:xfrm>
            <a:off x="4505325" y="790575"/>
            <a:ext cx="1009650"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 name="Picture 2" descr="https://lh5.googleusercontent.com/wExclAsyn0mb0m8c8vpDgLBfbmAicU2p4MQWuVOxxLQPnr7nyatabp719iZalUfPkEsT7DDX5y8ja9fJwV8eeuWoA91j2YGp8UP3-4uUgm_5lx4azOiRq2ZVqLyPM6-jI4GWDyLMyUI">
            <a:extLst>
              <a:ext uri="{FF2B5EF4-FFF2-40B4-BE49-F238E27FC236}">
                <a16:creationId xmlns:a16="http://schemas.microsoft.com/office/drawing/2014/main" id="{AC05055F-EA1C-4572-A038-64BEB9E17F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33950" y="2004286"/>
            <a:ext cx="1485900" cy="1838486"/>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D9D17918-2860-4A4C-89A8-83301E834A5F}"/>
              </a:ext>
            </a:extLst>
          </p:cNvPr>
          <p:cNvCxnSpPr>
            <a:cxnSpLocks/>
          </p:cNvCxnSpPr>
          <p:nvPr/>
        </p:nvCxnSpPr>
        <p:spPr>
          <a:xfrm flipH="1">
            <a:off x="3505200" y="790575"/>
            <a:ext cx="1000125"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74" name="Picture 2" descr="https://lh6.googleusercontent.com/Mn7JHezbQkpJFBES4ZenNEICvcx1yCXDLq1moMAsgmyDU4-_xNf6NLsWuM_lmDGKWjsUvoaWtb1ttDjLZO6zb0ASPFHObYbE2M0aHR9FH39B8OSrgrnhFvQZZ1qIrUeMM8In2zx8uic">
            <a:extLst>
              <a:ext uri="{FF2B5EF4-FFF2-40B4-BE49-F238E27FC236}">
                <a16:creationId xmlns:a16="http://schemas.microsoft.com/office/drawing/2014/main" id="{344A2DE9-A9D9-4249-A992-959E7C3694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1126" y="2004286"/>
            <a:ext cx="1472206" cy="1843814"/>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https://lh6.googleusercontent.com/DkyPYm5z-qpqoKl4_Tz5I8wIxjb3bqrAmvModV_61RIZzNC9OL_N3Mtzk_7zWf6RVQTwGT895mDL4NkGDTexVN-8C_BkDeF9crlatLdYIIhYxRSUWM5FM5GUB_f59IrN7C3Gfj6bzrQ">
            <a:extLst>
              <a:ext uri="{FF2B5EF4-FFF2-40B4-BE49-F238E27FC236}">
                <a16:creationId xmlns:a16="http://schemas.microsoft.com/office/drawing/2014/main" id="{8BD89154-1787-4BDA-9EA2-08326A7725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425" y="2354410"/>
            <a:ext cx="1709066" cy="11382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661790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Arrow Connector 1">
            <a:extLst>
              <a:ext uri="{FF2B5EF4-FFF2-40B4-BE49-F238E27FC236}">
                <a16:creationId xmlns:a16="http://schemas.microsoft.com/office/drawing/2014/main" id="{9995A7E1-A1A0-47BF-98B6-BF10EF5BFC70}"/>
              </a:ext>
            </a:extLst>
          </p:cNvPr>
          <p:cNvCxnSpPr>
            <a:cxnSpLocks/>
          </p:cNvCxnSpPr>
          <p:nvPr/>
        </p:nvCxnSpPr>
        <p:spPr>
          <a:xfrm>
            <a:off x="5924550" y="1800225"/>
            <a:ext cx="1009650"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 name="Picture 2" descr="https://lh5.googleusercontent.com/wExclAsyn0mb0m8c8vpDgLBfbmAicU2p4MQWuVOxxLQPnr7nyatabp719iZalUfPkEsT7DDX5y8ja9fJwV8eeuWoA91j2YGp8UP3-4uUgm_5lx4azOiRq2ZVqLyPM6-jI4GWDyLMyUI">
            <a:extLst>
              <a:ext uri="{FF2B5EF4-FFF2-40B4-BE49-F238E27FC236}">
                <a16:creationId xmlns:a16="http://schemas.microsoft.com/office/drawing/2014/main" id="{AC05055F-EA1C-4572-A038-64BEB9E17F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3175" y="3013936"/>
            <a:ext cx="1485900" cy="1838486"/>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D9D17918-2860-4A4C-89A8-83301E834A5F}"/>
              </a:ext>
            </a:extLst>
          </p:cNvPr>
          <p:cNvCxnSpPr>
            <a:cxnSpLocks/>
          </p:cNvCxnSpPr>
          <p:nvPr/>
        </p:nvCxnSpPr>
        <p:spPr>
          <a:xfrm flipH="1">
            <a:off x="4924425" y="1800225"/>
            <a:ext cx="1000125"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74" name="Picture 2" descr="https://lh6.googleusercontent.com/Mn7JHezbQkpJFBES4ZenNEICvcx1yCXDLq1moMAsgmyDU4-_xNf6NLsWuM_lmDGKWjsUvoaWtb1ttDjLZO6zb0ASPFHObYbE2M0aHR9FH39B8OSrgrnhFvQZZ1qIrUeMM8In2zx8uic">
            <a:extLst>
              <a:ext uri="{FF2B5EF4-FFF2-40B4-BE49-F238E27FC236}">
                <a16:creationId xmlns:a16="http://schemas.microsoft.com/office/drawing/2014/main" id="{344A2DE9-A9D9-4249-A992-959E7C369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0351" y="3013936"/>
            <a:ext cx="1472206" cy="184381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https://lh6.googleusercontent.com/DkyPYm5z-qpqoKl4_Tz5I8wIxjb3bqrAmvModV_61RIZzNC9OL_N3Mtzk_7zWf6RVQTwGT895mDL4NkGDTexVN-8C_BkDeF9crlatLdYIIhYxRSUWM5FM5GUB_f59IrN7C3Gfj6bzrQ">
            <a:extLst>
              <a:ext uri="{FF2B5EF4-FFF2-40B4-BE49-F238E27FC236}">
                <a16:creationId xmlns:a16="http://schemas.microsoft.com/office/drawing/2014/main" id="{52741062-3D24-486F-8D4B-83AA19D027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4955" y="3013936"/>
            <a:ext cx="2234778" cy="1488362"/>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Arrow Connector 10">
            <a:extLst>
              <a:ext uri="{FF2B5EF4-FFF2-40B4-BE49-F238E27FC236}">
                <a16:creationId xmlns:a16="http://schemas.microsoft.com/office/drawing/2014/main" id="{A89F577D-B6E8-43AD-9786-5F2688A56E48}"/>
              </a:ext>
            </a:extLst>
          </p:cNvPr>
          <p:cNvCxnSpPr>
            <a:cxnSpLocks/>
          </p:cNvCxnSpPr>
          <p:nvPr/>
        </p:nvCxnSpPr>
        <p:spPr>
          <a:xfrm>
            <a:off x="4419600" y="228600"/>
            <a:ext cx="1504950" cy="15716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AA7BA51-3796-4D01-BA81-16DF8679E233}"/>
              </a:ext>
            </a:extLst>
          </p:cNvPr>
          <p:cNvCxnSpPr/>
          <p:nvPr/>
        </p:nvCxnSpPr>
        <p:spPr>
          <a:xfrm flipH="1">
            <a:off x="2142344" y="228600"/>
            <a:ext cx="2277256" cy="26479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038976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Arrow Connector 1">
            <a:extLst>
              <a:ext uri="{FF2B5EF4-FFF2-40B4-BE49-F238E27FC236}">
                <a16:creationId xmlns:a16="http://schemas.microsoft.com/office/drawing/2014/main" id="{9995A7E1-A1A0-47BF-98B6-BF10EF5BFC70}"/>
              </a:ext>
            </a:extLst>
          </p:cNvPr>
          <p:cNvCxnSpPr>
            <a:cxnSpLocks/>
          </p:cNvCxnSpPr>
          <p:nvPr/>
        </p:nvCxnSpPr>
        <p:spPr>
          <a:xfrm>
            <a:off x="5924550" y="1800225"/>
            <a:ext cx="1009650"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 name="Picture 2" descr="https://lh5.googleusercontent.com/wExclAsyn0mb0m8c8vpDgLBfbmAicU2p4MQWuVOxxLQPnr7nyatabp719iZalUfPkEsT7DDX5y8ja9fJwV8eeuWoA91j2YGp8UP3-4uUgm_5lx4azOiRq2ZVqLyPM6-jI4GWDyLMyUI">
            <a:extLst>
              <a:ext uri="{FF2B5EF4-FFF2-40B4-BE49-F238E27FC236}">
                <a16:creationId xmlns:a16="http://schemas.microsoft.com/office/drawing/2014/main" id="{AC05055F-EA1C-4572-A038-64BEB9E17F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9394" y="3109186"/>
            <a:ext cx="1485900" cy="1838486"/>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D9D17918-2860-4A4C-89A8-83301E834A5F}"/>
              </a:ext>
            </a:extLst>
          </p:cNvPr>
          <p:cNvCxnSpPr>
            <a:cxnSpLocks/>
          </p:cNvCxnSpPr>
          <p:nvPr/>
        </p:nvCxnSpPr>
        <p:spPr>
          <a:xfrm flipH="1">
            <a:off x="4924425" y="1800225"/>
            <a:ext cx="1000125"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74" name="Picture 2" descr="https://lh6.googleusercontent.com/Mn7JHezbQkpJFBES4ZenNEICvcx1yCXDLq1moMAsgmyDU4-_xNf6NLsWuM_lmDGKWjsUvoaWtb1ttDjLZO6zb0ASPFHObYbE2M0aHR9FH39B8OSrgrnhFvQZZ1qIrUeMM8In2zx8uic">
            <a:extLst>
              <a:ext uri="{FF2B5EF4-FFF2-40B4-BE49-F238E27FC236}">
                <a16:creationId xmlns:a16="http://schemas.microsoft.com/office/drawing/2014/main" id="{344A2DE9-A9D9-4249-A992-959E7C369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0351" y="3013936"/>
            <a:ext cx="1472206" cy="184381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https://lh6.googleusercontent.com/DkyPYm5z-qpqoKl4_Tz5I8wIxjb3bqrAmvModV_61RIZzNC9OL_N3Mtzk_7zWf6RVQTwGT895mDL4NkGDTexVN-8C_BkDeF9crlatLdYIIhYxRSUWM5FM5GUB_f59IrN7C3Gfj6bzrQ">
            <a:extLst>
              <a:ext uri="{FF2B5EF4-FFF2-40B4-BE49-F238E27FC236}">
                <a16:creationId xmlns:a16="http://schemas.microsoft.com/office/drawing/2014/main" id="{52741062-3D24-486F-8D4B-83AA19D027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27614" y="3003180"/>
            <a:ext cx="2234778" cy="1488362"/>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Arrow Connector 10">
            <a:extLst>
              <a:ext uri="{FF2B5EF4-FFF2-40B4-BE49-F238E27FC236}">
                <a16:creationId xmlns:a16="http://schemas.microsoft.com/office/drawing/2014/main" id="{A89F577D-B6E8-43AD-9786-5F2688A56E48}"/>
              </a:ext>
            </a:extLst>
          </p:cNvPr>
          <p:cNvCxnSpPr>
            <a:cxnSpLocks/>
          </p:cNvCxnSpPr>
          <p:nvPr/>
        </p:nvCxnSpPr>
        <p:spPr>
          <a:xfrm>
            <a:off x="4419600" y="228600"/>
            <a:ext cx="1504950" cy="15716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AA7BA51-3796-4D01-BA81-16DF8679E233}"/>
              </a:ext>
            </a:extLst>
          </p:cNvPr>
          <p:cNvCxnSpPr/>
          <p:nvPr/>
        </p:nvCxnSpPr>
        <p:spPr>
          <a:xfrm flipH="1">
            <a:off x="2142344" y="228600"/>
            <a:ext cx="2277256" cy="26479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541458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Arrow Connector 1">
            <a:extLst>
              <a:ext uri="{FF2B5EF4-FFF2-40B4-BE49-F238E27FC236}">
                <a16:creationId xmlns:a16="http://schemas.microsoft.com/office/drawing/2014/main" id="{9995A7E1-A1A0-47BF-98B6-BF10EF5BFC70}"/>
              </a:ext>
            </a:extLst>
          </p:cNvPr>
          <p:cNvCxnSpPr>
            <a:cxnSpLocks/>
          </p:cNvCxnSpPr>
          <p:nvPr/>
        </p:nvCxnSpPr>
        <p:spPr>
          <a:xfrm>
            <a:off x="5924550" y="1800225"/>
            <a:ext cx="1009650"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 name="Picture 2" descr="https://lh5.googleusercontent.com/wExclAsyn0mb0m8c8vpDgLBfbmAicU2p4MQWuVOxxLQPnr7nyatabp719iZalUfPkEsT7DDX5y8ja9fJwV8eeuWoA91j2YGp8UP3-4uUgm_5lx4azOiRq2ZVqLyPM6-jI4GWDyLMyUI">
            <a:extLst>
              <a:ext uri="{FF2B5EF4-FFF2-40B4-BE49-F238E27FC236}">
                <a16:creationId xmlns:a16="http://schemas.microsoft.com/office/drawing/2014/main" id="{AC05055F-EA1C-4572-A038-64BEB9E17F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3175" y="3013936"/>
            <a:ext cx="1485900" cy="1838486"/>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D9D17918-2860-4A4C-89A8-83301E834A5F}"/>
              </a:ext>
            </a:extLst>
          </p:cNvPr>
          <p:cNvCxnSpPr>
            <a:cxnSpLocks/>
          </p:cNvCxnSpPr>
          <p:nvPr/>
        </p:nvCxnSpPr>
        <p:spPr>
          <a:xfrm flipH="1">
            <a:off x="4924425" y="1800225"/>
            <a:ext cx="1000125" cy="1076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74" name="Picture 2" descr="https://lh6.googleusercontent.com/Mn7JHezbQkpJFBES4ZenNEICvcx1yCXDLq1moMAsgmyDU4-_xNf6NLsWuM_lmDGKWjsUvoaWtb1ttDjLZO6zb0ASPFHObYbE2M0aHR9FH39B8OSrgrnhFvQZZ1qIrUeMM8In2zx8uic">
            <a:extLst>
              <a:ext uri="{FF2B5EF4-FFF2-40B4-BE49-F238E27FC236}">
                <a16:creationId xmlns:a16="http://schemas.microsoft.com/office/drawing/2014/main" id="{344A2DE9-A9D9-4249-A992-959E7C369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6241" y="3008608"/>
            <a:ext cx="1472206" cy="184381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https://lh6.googleusercontent.com/DkyPYm5z-qpqoKl4_Tz5I8wIxjb3bqrAmvModV_61RIZzNC9OL_N3Mtzk_7zWf6RVQTwGT895mDL4NkGDTexVN-8C_BkDeF9crlatLdYIIhYxRSUWM5FM5GUB_f59IrN7C3Gfj6bzrQ">
            <a:extLst>
              <a:ext uri="{FF2B5EF4-FFF2-40B4-BE49-F238E27FC236}">
                <a16:creationId xmlns:a16="http://schemas.microsoft.com/office/drawing/2014/main" id="{52741062-3D24-486F-8D4B-83AA19D027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8422" y="3013936"/>
            <a:ext cx="2234778" cy="1488362"/>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Arrow Connector 10">
            <a:extLst>
              <a:ext uri="{FF2B5EF4-FFF2-40B4-BE49-F238E27FC236}">
                <a16:creationId xmlns:a16="http://schemas.microsoft.com/office/drawing/2014/main" id="{A89F577D-B6E8-43AD-9786-5F2688A56E48}"/>
              </a:ext>
            </a:extLst>
          </p:cNvPr>
          <p:cNvCxnSpPr>
            <a:cxnSpLocks/>
          </p:cNvCxnSpPr>
          <p:nvPr/>
        </p:nvCxnSpPr>
        <p:spPr>
          <a:xfrm>
            <a:off x="4419600" y="228600"/>
            <a:ext cx="1504950" cy="15716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AA7BA51-3796-4D01-BA81-16DF8679E233}"/>
              </a:ext>
            </a:extLst>
          </p:cNvPr>
          <p:cNvCxnSpPr/>
          <p:nvPr/>
        </p:nvCxnSpPr>
        <p:spPr>
          <a:xfrm flipH="1">
            <a:off x="2142344" y="228600"/>
            <a:ext cx="2277256" cy="26479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17232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pic>
        <p:nvPicPr>
          <p:cNvPr id="123" name="Shape 123"/>
          <p:cNvPicPr preferRelativeResize="0"/>
          <p:nvPr/>
        </p:nvPicPr>
        <p:blipFill>
          <a:blip r:embed="rId3">
            <a:alphaModFix/>
          </a:blip>
          <a:stretch>
            <a:fillRect/>
          </a:stretch>
        </p:blipFill>
        <p:spPr>
          <a:xfrm>
            <a:off x="1710788" y="152400"/>
            <a:ext cx="5722414" cy="48387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pic>
        <p:nvPicPr>
          <p:cNvPr id="128" name="Shape 128"/>
          <p:cNvPicPr preferRelativeResize="0"/>
          <p:nvPr/>
        </p:nvPicPr>
        <p:blipFill>
          <a:blip r:embed="rId3">
            <a:alphaModFix/>
          </a:blip>
          <a:stretch>
            <a:fillRect/>
          </a:stretch>
        </p:blipFill>
        <p:spPr>
          <a:xfrm>
            <a:off x="1651563" y="152400"/>
            <a:ext cx="5840871" cy="4838700"/>
          </a:xfrm>
          <a:prstGeom prst="rect">
            <a:avLst/>
          </a:prstGeom>
          <a:noFill/>
          <a:ln>
            <a:noFill/>
          </a:ln>
        </p:spPr>
      </p:pic>
      <p:sp>
        <p:nvSpPr>
          <p:cNvPr id="129" name="Shape 129"/>
          <p:cNvSpPr/>
          <p:nvPr/>
        </p:nvSpPr>
        <p:spPr>
          <a:xfrm>
            <a:off x="5780550" y="4731850"/>
            <a:ext cx="1711800" cy="3453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grpSp>
        <p:nvGrpSpPr>
          <p:cNvPr id="134" name="Shape 134"/>
          <p:cNvGrpSpPr/>
          <p:nvPr/>
        </p:nvGrpSpPr>
        <p:grpSpPr>
          <a:xfrm>
            <a:off x="1502509" y="1340003"/>
            <a:ext cx="5762521" cy="2461067"/>
            <a:chOff x="0" y="-214038"/>
            <a:chExt cx="8195584" cy="4666910"/>
          </a:xfrm>
        </p:grpSpPr>
        <p:cxnSp>
          <p:nvCxnSpPr>
            <p:cNvPr id="135" name="Shape 135"/>
            <p:cNvCxnSpPr/>
            <p:nvPr/>
          </p:nvCxnSpPr>
          <p:spPr>
            <a:xfrm rot="10800000" flipH="1">
              <a:off x="4007741" y="-214038"/>
              <a:ext cx="1474054" cy="1184308"/>
            </a:xfrm>
            <a:prstGeom prst="straightConnector1">
              <a:avLst/>
            </a:prstGeom>
            <a:noFill/>
            <a:ln w="88900" cap="flat" cmpd="sng">
              <a:solidFill>
                <a:srgbClr val="EC5A54"/>
              </a:solidFill>
              <a:prstDash val="solid"/>
              <a:miter lim="400000"/>
              <a:headEnd type="none" w="sm" len="sm"/>
              <a:tailEnd type="none" w="sm" len="sm"/>
            </a:ln>
          </p:spPr>
        </p:cxnSp>
        <p:grpSp>
          <p:nvGrpSpPr>
            <p:cNvPr id="136" name="Shape 136"/>
            <p:cNvGrpSpPr/>
            <p:nvPr/>
          </p:nvGrpSpPr>
          <p:grpSpPr>
            <a:xfrm>
              <a:off x="0" y="1801027"/>
              <a:ext cx="8195584" cy="2651845"/>
              <a:chOff x="0" y="42145"/>
              <a:chExt cx="8195583" cy="2651843"/>
            </a:xfrm>
          </p:grpSpPr>
          <p:sp>
            <p:nvSpPr>
              <p:cNvPr id="137" name="Shape 137"/>
              <p:cNvSpPr/>
              <p:nvPr/>
            </p:nvSpPr>
            <p:spPr>
              <a:xfrm>
                <a:off x="3104233" y="49609"/>
                <a:ext cx="2753917" cy="2644379"/>
              </a:xfrm>
              <a:custGeom>
                <a:avLst/>
                <a:gdLst/>
                <a:ahLst/>
                <a:cxnLst/>
                <a:rect l="0" t="0" r="0" b="0"/>
                <a:pathLst>
                  <a:path w="21600" h="21600" extrusionOk="0">
                    <a:moveTo>
                      <a:pt x="5005" y="0"/>
                    </a:moveTo>
                    <a:lnTo>
                      <a:pt x="1653" y="1747"/>
                    </a:lnTo>
                    <a:lnTo>
                      <a:pt x="0" y="4756"/>
                    </a:lnTo>
                    <a:lnTo>
                      <a:pt x="1012" y="12931"/>
                    </a:lnTo>
                    <a:lnTo>
                      <a:pt x="3144" y="15512"/>
                    </a:lnTo>
                    <a:lnTo>
                      <a:pt x="6758" y="15917"/>
                    </a:lnTo>
                    <a:lnTo>
                      <a:pt x="8342" y="16672"/>
                    </a:lnTo>
                    <a:lnTo>
                      <a:pt x="11524" y="21250"/>
                    </a:lnTo>
                    <a:lnTo>
                      <a:pt x="16928" y="21600"/>
                    </a:lnTo>
                    <a:lnTo>
                      <a:pt x="20887" y="17574"/>
                    </a:lnTo>
                    <a:lnTo>
                      <a:pt x="21363" y="14640"/>
                    </a:lnTo>
                    <a:lnTo>
                      <a:pt x="21522" y="7654"/>
                    </a:lnTo>
                    <a:lnTo>
                      <a:pt x="21600" y="596"/>
                    </a:lnTo>
                    <a:lnTo>
                      <a:pt x="12181" y="0"/>
                    </a:lnTo>
                    <a:lnTo>
                      <a:pt x="5005" y="0"/>
                    </a:lnTo>
                    <a:close/>
                  </a:path>
                </a:pathLst>
              </a:custGeom>
              <a:noFill/>
              <a:ln>
                <a:noFill/>
              </a:ln>
            </p:spPr>
          </p:sp>
          <p:pic>
            <p:nvPicPr>
              <p:cNvPr id="138" name="Shape 138"/>
              <p:cNvPicPr preferRelativeResize="0"/>
              <p:nvPr/>
            </p:nvPicPr>
            <p:blipFill rotWithShape="1">
              <a:blip r:embed="rId3">
                <a:alphaModFix/>
              </a:blip>
              <a:srcRect l="11511" t="4416" r="7481" b="12269"/>
              <a:stretch/>
            </p:blipFill>
            <p:spPr>
              <a:xfrm>
                <a:off x="5975835" y="42145"/>
                <a:ext cx="2219748" cy="2282993"/>
              </a:xfrm>
              <a:prstGeom prst="rect">
                <a:avLst/>
              </a:prstGeom>
              <a:noFill/>
              <a:ln>
                <a:noFill/>
              </a:ln>
            </p:spPr>
          </p:pic>
          <p:pic>
            <p:nvPicPr>
              <p:cNvPr id="139" name="Shape 139"/>
              <p:cNvPicPr preferRelativeResize="0"/>
              <p:nvPr/>
            </p:nvPicPr>
            <p:blipFill rotWithShape="1">
              <a:blip r:embed="rId4">
                <a:alphaModFix/>
              </a:blip>
              <a:srcRect/>
              <a:stretch/>
            </p:blipFill>
            <p:spPr>
              <a:xfrm>
                <a:off x="0" y="84054"/>
                <a:ext cx="2759036" cy="1746241"/>
              </a:xfrm>
              <a:prstGeom prst="rect">
                <a:avLst/>
              </a:prstGeom>
              <a:noFill/>
              <a:ln>
                <a:noFill/>
              </a:ln>
            </p:spPr>
          </p:pic>
        </p:grpSp>
      </p:grpSp>
      <p:grpSp>
        <p:nvGrpSpPr>
          <p:cNvPr id="140" name="Shape 140"/>
          <p:cNvGrpSpPr/>
          <p:nvPr/>
        </p:nvGrpSpPr>
        <p:grpSpPr>
          <a:xfrm>
            <a:off x="1791946" y="2358315"/>
            <a:ext cx="5437097" cy="1444171"/>
            <a:chOff x="0" y="0"/>
            <a:chExt cx="7733035" cy="2738803"/>
          </a:xfrm>
        </p:grpSpPr>
        <p:pic>
          <p:nvPicPr>
            <p:cNvPr id="141" name="Shape 141"/>
            <p:cNvPicPr preferRelativeResize="0"/>
            <p:nvPr/>
          </p:nvPicPr>
          <p:blipFill rotWithShape="1">
            <a:blip r:embed="rId5">
              <a:alphaModFix/>
            </a:blip>
            <a:srcRect l="21323" t="3864" r="14252" b="5553"/>
            <a:stretch/>
          </p:blipFill>
          <p:spPr>
            <a:xfrm>
              <a:off x="2741883" y="0"/>
              <a:ext cx="2435445" cy="2738802"/>
            </a:xfrm>
            <a:prstGeom prst="rect">
              <a:avLst/>
            </a:prstGeom>
            <a:noFill/>
            <a:ln>
              <a:noFill/>
            </a:ln>
          </p:spPr>
        </p:pic>
        <p:pic>
          <p:nvPicPr>
            <p:cNvPr id="142" name="Shape 142"/>
            <p:cNvPicPr preferRelativeResize="0"/>
            <p:nvPr/>
          </p:nvPicPr>
          <p:blipFill rotWithShape="1">
            <a:blip r:embed="rId6">
              <a:alphaModFix/>
            </a:blip>
            <a:srcRect l="43406" r="32272" b="55896"/>
            <a:stretch/>
          </p:blipFill>
          <p:spPr>
            <a:xfrm>
              <a:off x="0" y="0"/>
              <a:ext cx="2279320" cy="2737715"/>
            </a:xfrm>
            <a:prstGeom prst="rect">
              <a:avLst/>
            </a:prstGeom>
            <a:noFill/>
            <a:ln>
              <a:noFill/>
            </a:ln>
          </p:spPr>
        </p:pic>
        <p:pic>
          <p:nvPicPr>
            <p:cNvPr id="143" name="Shape 143"/>
            <p:cNvPicPr preferRelativeResize="0"/>
            <p:nvPr/>
          </p:nvPicPr>
          <p:blipFill rotWithShape="1">
            <a:blip r:embed="rId7">
              <a:alphaModFix/>
            </a:blip>
            <a:srcRect l="38555" t="4135" r="22816" b="28318"/>
            <a:stretch/>
          </p:blipFill>
          <p:spPr>
            <a:xfrm>
              <a:off x="5677607" y="0"/>
              <a:ext cx="2055428" cy="2738803"/>
            </a:xfrm>
            <a:prstGeom prst="rect">
              <a:avLst/>
            </a:prstGeom>
            <a:noFill/>
            <a:ln>
              <a:noFill/>
            </a:ln>
          </p:spPr>
        </p:pic>
      </p:grpSp>
      <p:grpSp>
        <p:nvGrpSpPr>
          <p:cNvPr id="144" name="Shape 144"/>
          <p:cNvGrpSpPr/>
          <p:nvPr/>
        </p:nvGrpSpPr>
        <p:grpSpPr>
          <a:xfrm>
            <a:off x="2531964" y="188368"/>
            <a:ext cx="4084450" cy="2076601"/>
            <a:chOff x="-124912" y="3213233"/>
            <a:chExt cx="5808994" cy="3937849"/>
          </a:xfrm>
        </p:grpSpPr>
        <p:cxnSp>
          <p:nvCxnSpPr>
            <p:cNvPr id="145" name="Shape 145"/>
            <p:cNvCxnSpPr/>
            <p:nvPr/>
          </p:nvCxnSpPr>
          <p:spPr>
            <a:xfrm rot="10800000" flipH="1">
              <a:off x="-124912" y="3213233"/>
              <a:ext cx="4629069" cy="3887041"/>
            </a:xfrm>
            <a:prstGeom prst="straightConnector1">
              <a:avLst/>
            </a:prstGeom>
            <a:noFill/>
            <a:ln w="88900" cap="flat" cmpd="sng">
              <a:solidFill>
                <a:srgbClr val="85888D"/>
              </a:solidFill>
              <a:prstDash val="solid"/>
              <a:miter lim="400000"/>
              <a:headEnd type="none" w="sm" len="sm"/>
              <a:tailEnd type="none" w="sm" len="sm"/>
            </a:ln>
          </p:spPr>
        </p:cxnSp>
        <p:cxnSp>
          <p:nvCxnSpPr>
            <p:cNvPr id="146" name="Shape 146"/>
            <p:cNvCxnSpPr/>
            <p:nvPr/>
          </p:nvCxnSpPr>
          <p:spPr>
            <a:xfrm rot="10800000">
              <a:off x="2987820" y="4454821"/>
              <a:ext cx="2696262" cy="2696262"/>
            </a:xfrm>
            <a:prstGeom prst="straightConnector1">
              <a:avLst/>
            </a:prstGeom>
            <a:noFill/>
            <a:ln w="88900" cap="flat" cmpd="sng">
              <a:solidFill>
                <a:srgbClr val="85888D"/>
              </a:solidFill>
              <a:prstDash val="solid"/>
              <a:miter lim="400000"/>
              <a:headEnd type="none" w="sm" len="sm"/>
              <a:tailEnd type="none" w="sm" len="sm"/>
            </a:ln>
          </p:spPr>
        </p:cxnSp>
        <p:cxnSp>
          <p:nvCxnSpPr>
            <p:cNvPr id="147" name="Shape 147"/>
            <p:cNvCxnSpPr/>
            <p:nvPr/>
          </p:nvCxnSpPr>
          <p:spPr>
            <a:xfrm rot="10800000">
              <a:off x="1505356" y="5685410"/>
              <a:ext cx="1368533" cy="1368534"/>
            </a:xfrm>
            <a:prstGeom prst="straightConnector1">
              <a:avLst/>
            </a:prstGeom>
            <a:noFill/>
            <a:ln w="88900" cap="flat" cmpd="sng">
              <a:solidFill>
                <a:srgbClr val="85888D"/>
              </a:solidFill>
              <a:prstDash val="solid"/>
              <a:miter lim="400000"/>
              <a:headEnd type="none" w="sm" len="sm"/>
              <a:tailEnd type="none" w="sm" len="sm"/>
            </a:ln>
          </p:spPr>
        </p:cxnSp>
      </p:grpSp>
      <p:sp>
        <p:nvSpPr>
          <p:cNvPr id="148" name="Shape 148"/>
          <p:cNvSpPr txBox="1">
            <a:spLocks noGrp="1"/>
          </p:cNvSpPr>
          <p:nvPr>
            <p:ph type="title"/>
          </p:nvPr>
        </p:nvSpPr>
        <p:spPr>
          <a:xfrm>
            <a:off x="892969" y="3676799"/>
            <a:ext cx="7358063" cy="750094"/>
          </a:xfrm>
          <a:prstGeom prst="rect">
            <a:avLst/>
          </a:prstGeom>
          <a:noFill/>
          <a:ln>
            <a:noFill/>
          </a:ln>
        </p:spPr>
        <p:txBody>
          <a:bodyPr spcFirstLastPara="1" wrap="square" lIns="32750" tIns="32750" rIns="32750" bIns="32750" anchor="b" anchorCtr="0">
            <a:noAutofit/>
          </a:bodyPr>
          <a:lstStyle/>
          <a:p>
            <a:pPr marL="0" marR="0" lvl="0" indent="0" algn="ctr" rtl="0">
              <a:lnSpc>
                <a:spcPct val="100000"/>
              </a:lnSpc>
              <a:spcBef>
                <a:spcPts val="0"/>
              </a:spcBef>
              <a:spcAft>
                <a:spcPts val="0"/>
              </a:spcAft>
              <a:buClr>
                <a:srgbClr val="000000"/>
              </a:buClr>
              <a:buSzPts val="4200"/>
              <a:buFont typeface="Helvetica Neue Light"/>
              <a:buNone/>
            </a:pPr>
            <a:r>
              <a:rPr lang="en" sz="4200" b="0" i="0" u="none" strike="noStrike" cap="none" dirty="0">
                <a:solidFill>
                  <a:srgbClr val="000000"/>
                </a:solidFill>
                <a:latin typeface="Helvetica Neue Light"/>
                <a:ea typeface="Helvetica Neue Light"/>
                <a:cs typeface="Helvetica Neue Light"/>
                <a:sym typeface="Helvetica Neue Light"/>
              </a:rPr>
              <a:t>Phylogenetics</a:t>
            </a:r>
            <a:endParaRPr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40"/>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Shape 153"/>
          <p:cNvSpPr txBox="1"/>
          <p:nvPr/>
        </p:nvSpPr>
        <p:spPr>
          <a:xfrm>
            <a:off x="1151225" y="887175"/>
            <a:ext cx="6970800" cy="897600"/>
          </a:xfrm>
          <a:prstGeom prst="rect">
            <a:avLst/>
          </a:prstGeom>
          <a:noFill/>
          <a:ln>
            <a:noFill/>
          </a:ln>
        </p:spPr>
        <p:txBody>
          <a:bodyPr spcFirstLastPara="1" wrap="square" lIns="91425" tIns="91425" rIns="91425" bIns="91425" anchor="t" anchorCtr="0">
            <a:noAutofit/>
          </a:bodyPr>
          <a:lstStyle/>
          <a:p>
            <a:pPr marL="0" lvl="0" indent="0">
              <a:spcBef>
                <a:spcPts val="0"/>
              </a:spcBef>
              <a:spcAft>
                <a:spcPts val="0"/>
              </a:spcAft>
              <a:buNone/>
            </a:pPr>
            <a:r>
              <a:rPr lang="en"/>
              <a:t>Here we want to say that counting networks is even worse than trees:</a:t>
            </a:r>
            <a:endParaRPr/>
          </a:p>
          <a:p>
            <a:pPr marL="457200" lvl="0" indent="-317500">
              <a:spcBef>
                <a:spcPts val="0"/>
              </a:spcBef>
              <a:spcAft>
                <a:spcPts val="0"/>
              </a:spcAft>
              <a:buSzPts val="1400"/>
              <a:buChar char="-"/>
            </a:pPr>
            <a:r>
              <a:rPr lang="en"/>
              <a:t>Show case of 3 species, drawing of all possible gene flows, and formula</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Shape 158"/>
          <p:cNvSpPr txBox="1"/>
          <p:nvPr/>
        </p:nvSpPr>
        <p:spPr>
          <a:xfrm>
            <a:off x="1127625" y="89772"/>
            <a:ext cx="6642839" cy="564159"/>
          </a:xfrm>
          <a:prstGeom prst="rect">
            <a:avLst/>
          </a:prstGeom>
          <a:noFill/>
          <a:ln>
            <a:noFill/>
          </a:ln>
        </p:spPr>
        <p:txBody>
          <a:bodyPr spcFirstLastPara="1" wrap="square" lIns="91425" tIns="91425" rIns="91425" bIns="91425" anchor="t" anchorCtr="0">
            <a:noAutofit/>
          </a:bodyPr>
          <a:lstStyle/>
          <a:p>
            <a:pPr marL="0" lvl="0" indent="0" algn="ctr">
              <a:spcBef>
                <a:spcPts val="0"/>
              </a:spcBef>
              <a:spcAft>
                <a:spcPts val="0"/>
              </a:spcAft>
              <a:buNone/>
            </a:pPr>
            <a:r>
              <a:rPr lang="en-US" sz="2800" b="1" dirty="0">
                <a:latin typeface="Helvetica Neue" panose="020B0604020202020204" charset="0"/>
                <a:cs typeface="Times New Roman" panose="02020603050405020304" pitchFamily="18" charset="0"/>
              </a:rPr>
              <a:t>DENTIST</a:t>
            </a:r>
            <a:r>
              <a:rPr lang="en-US" sz="2800" b="1" dirty="0">
                <a:latin typeface="Jokerman" panose="04090605060D06020702" pitchFamily="82" charset="0"/>
                <a:cs typeface="Times New Roman" panose="02020603050405020304" pitchFamily="18" charset="0"/>
              </a:rPr>
              <a:t> </a:t>
            </a:r>
            <a:r>
              <a:rPr lang="en-US" sz="2800" b="1" dirty="0">
                <a:latin typeface="Helvetica Neue" panose="020B0604020202020204" charset="0"/>
                <a:cs typeface="Times New Roman" panose="02020603050405020304" pitchFamily="18" charset="0"/>
              </a:rPr>
              <a:t>EXAMPLE</a:t>
            </a:r>
            <a:endParaRPr sz="2800" b="1" dirty="0">
              <a:latin typeface="Helvetica Neue" panose="020B0604020202020204" charset="0"/>
              <a:cs typeface="Times New Roman" panose="02020603050405020304" pitchFamily="18" charset="0"/>
            </a:endParaRPr>
          </a:p>
        </p:txBody>
      </p:sp>
      <p:pic>
        <p:nvPicPr>
          <p:cNvPr id="1040" name="Picture 16" descr="Image result for dentist clipart">
            <a:extLst>
              <a:ext uri="{FF2B5EF4-FFF2-40B4-BE49-F238E27FC236}">
                <a16:creationId xmlns:a16="http://schemas.microsoft.com/office/drawing/2014/main" id="{32687048-AF55-4EAD-8230-5B9BE4D1A8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285" y="2370362"/>
            <a:ext cx="1278024" cy="1703331"/>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Image result for group of people clipart">
            <a:extLst>
              <a:ext uri="{FF2B5EF4-FFF2-40B4-BE49-F238E27FC236}">
                <a16:creationId xmlns:a16="http://schemas.microsoft.com/office/drawing/2014/main" id="{5B177E16-1D5D-4411-88C9-FB93F134C5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65436" y="2839401"/>
            <a:ext cx="2156710" cy="1552831"/>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1163A698-5920-4DBC-A88B-28FA3EF3C5EB}"/>
              </a:ext>
            </a:extLst>
          </p:cNvPr>
          <p:cNvCxnSpPr>
            <a:cxnSpLocks/>
          </p:cNvCxnSpPr>
          <p:nvPr/>
        </p:nvCxnSpPr>
        <p:spPr>
          <a:xfrm>
            <a:off x="3955179" y="1402233"/>
            <a:ext cx="1420783" cy="84512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0" name="Straight Arrow Connector 9">
            <a:extLst>
              <a:ext uri="{FF2B5EF4-FFF2-40B4-BE49-F238E27FC236}">
                <a16:creationId xmlns:a16="http://schemas.microsoft.com/office/drawing/2014/main" id="{E10A8CDC-1390-485A-9A94-60C70EECCB99}"/>
              </a:ext>
            </a:extLst>
          </p:cNvPr>
          <p:cNvCxnSpPr>
            <a:cxnSpLocks/>
          </p:cNvCxnSpPr>
          <p:nvPr/>
        </p:nvCxnSpPr>
        <p:spPr>
          <a:xfrm flipH="1">
            <a:off x="3063152" y="1693019"/>
            <a:ext cx="675502" cy="92263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 name="Rectangle 10">
            <a:extLst>
              <a:ext uri="{FF2B5EF4-FFF2-40B4-BE49-F238E27FC236}">
                <a16:creationId xmlns:a16="http://schemas.microsoft.com/office/drawing/2014/main" id="{517CA597-AD4B-4884-917D-67EF7A962399}"/>
              </a:ext>
            </a:extLst>
          </p:cNvPr>
          <p:cNvSpPr/>
          <p:nvPr/>
        </p:nvSpPr>
        <p:spPr>
          <a:xfrm>
            <a:off x="2007574" y="4357580"/>
            <a:ext cx="2544206" cy="461665"/>
          </a:xfrm>
          <a:prstGeom prst="rect">
            <a:avLst/>
          </a:prstGeom>
        </p:spPr>
        <p:txBody>
          <a:bodyPr wrap="square">
            <a:spAutoFit/>
          </a:bodyPr>
          <a:lstStyle/>
          <a:p>
            <a:pPr lvl="0" algn="ctr"/>
            <a:r>
              <a:rPr lang="en-US" sz="2400" b="1" dirty="0">
                <a:latin typeface="Helvetica Neue" panose="020B0604020202020204" charset="0"/>
                <a:cs typeface="Times New Roman" panose="02020603050405020304" pitchFamily="18" charset="0"/>
              </a:rPr>
              <a:t>AIDS</a:t>
            </a:r>
            <a:endParaRPr lang="en-US" sz="4000" b="1" dirty="0">
              <a:latin typeface="Helvetica Neue" panose="020B0604020202020204" charset="0"/>
              <a:cs typeface="Times New Roman" panose="02020603050405020304" pitchFamily="18" charset="0"/>
            </a:endParaRPr>
          </a:p>
        </p:txBody>
      </p:sp>
      <p:cxnSp>
        <p:nvCxnSpPr>
          <p:cNvPr id="17" name="Straight Arrow Connector 16">
            <a:extLst>
              <a:ext uri="{FF2B5EF4-FFF2-40B4-BE49-F238E27FC236}">
                <a16:creationId xmlns:a16="http://schemas.microsoft.com/office/drawing/2014/main" id="{0E7A109F-0AB4-47C4-9009-54FBD1B889BF}"/>
              </a:ext>
            </a:extLst>
          </p:cNvPr>
          <p:cNvCxnSpPr>
            <a:cxnSpLocks/>
          </p:cNvCxnSpPr>
          <p:nvPr/>
        </p:nvCxnSpPr>
        <p:spPr>
          <a:xfrm flipH="1">
            <a:off x="3405150" y="1688742"/>
            <a:ext cx="341495" cy="118531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a:extLst>
              <a:ext uri="{FF2B5EF4-FFF2-40B4-BE49-F238E27FC236}">
                <a16:creationId xmlns:a16="http://schemas.microsoft.com/office/drawing/2014/main" id="{A18A97EF-A8DF-423C-96DC-FD18AB9F6972}"/>
              </a:ext>
            </a:extLst>
          </p:cNvPr>
          <p:cNvCxnSpPr>
            <a:cxnSpLocks/>
          </p:cNvCxnSpPr>
          <p:nvPr/>
        </p:nvCxnSpPr>
        <p:spPr>
          <a:xfrm>
            <a:off x="3746644" y="1696288"/>
            <a:ext cx="111394" cy="117776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2" name="Straight Arrow Connector 21">
            <a:extLst>
              <a:ext uri="{FF2B5EF4-FFF2-40B4-BE49-F238E27FC236}">
                <a16:creationId xmlns:a16="http://schemas.microsoft.com/office/drawing/2014/main" id="{E7C26B6D-3790-4F63-B974-838B1559A72F}"/>
              </a:ext>
            </a:extLst>
          </p:cNvPr>
          <p:cNvCxnSpPr>
            <a:cxnSpLocks/>
          </p:cNvCxnSpPr>
          <p:nvPr/>
        </p:nvCxnSpPr>
        <p:spPr>
          <a:xfrm flipH="1">
            <a:off x="3746644" y="773650"/>
            <a:ext cx="675502" cy="92263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4" name="Straight Arrow Connector 23">
            <a:extLst>
              <a:ext uri="{FF2B5EF4-FFF2-40B4-BE49-F238E27FC236}">
                <a16:creationId xmlns:a16="http://schemas.microsoft.com/office/drawing/2014/main" id="{C47BB84F-613C-40A0-B447-FDD9E2D8857B}"/>
              </a:ext>
            </a:extLst>
          </p:cNvPr>
          <p:cNvCxnSpPr>
            <a:cxnSpLocks/>
          </p:cNvCxnSpPr>
          <p:nvPr/>
        </p:nvCxnSpPr>
        <p:spPr>
          <a:xfrm>
            <a:off x="4428410" y="790718"/>
            <a:ext cx="1420783" cy="84512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5" name="Rectangle 24">
            <a:extLst>
              <a:ext uri="{FF2B5EF4-FFF2-40B4-BE49-F238E27FC236}">
                <a16:creationId xmlns:a16="http://schemas.microsoft.com/office/drawing/2014/main" id="{47E4EC97-DDA1-4789-8EE0-50D16B9373D6}"/>
              </a:ext>
            </a:extLst>
          </p:cNvPr>
          <p:cNvSpPr/>
          <p:nvPr/>
        </p:nvSpPr>
        <p:spPr>
          <a:xfrm>
            <a:off x="4459352" y="4073693"/>
            <a:ext cx="2544206" cy="461665"/>
          </a:xfrm>
          <a:prstGeom prst="rect">
            <a:avLst/>
          </a:prstGeom>
        </p:spPr>
        <p:txBody>
          <a:bodyPr wrap="square">
            <a:spAutoFit/>
          </a:bodyPr>
          <a:lstStyle/>
          <a:p>
            <a:pPr lvl="0" algn="ctr"/>
            <a:r>
              <a:rPr lang="en-US" sz="2400" b="1" dirty="0">
                <a:latin typeface="Helvetica Neue" panose="020B0604020202020204" charset="0"/>
                <a:cs typeface="Times New Roman" panose="02020603050405020304" pitchFamily="18" charset="0"/>
              </a:rPr>
              <a:t>Dentist</a:t>
            </a:r>
            <a:endParaRPr lang="en-US" sz="4000" b="1" dirty="0">
              <a:latin typeface="Helvetica Neue" panose="020B0604020202020204" charset="0"/>
              <a:cs typeface="Times New Roman" panose="02020603050405020304" pitchFamily="18" charset="0"/>
            </a:endParaRPr>
          </a:p>
        </p:txBody>
      </p:sp>
      <p:sp>
        <p:nvSpPr>
          <p:cNvPr id="26" name="Rectangle 25">
            <a:extLst>
              <a:ext uri="{FF2B5EF4-FFF2-40B4-BE49-F238E27FC236}">
                <a16:creationId xmlns:a16="http://schemas.microsoft.com/office/drawing/2014/main" id="{5B41F5C1-98DF-45FF-9075-C51DA1C0E0E8}"/>
              </a:ext>
            </a:extLst>
          </p:cNvPr>
          <p:cNvSpPr/>
          <p:nvPr/>
        </p:nvSpPr>
        <p:spPr>
          <a:xfrm>
            <a:off x="4604754" y="1628599"/>
            <a:ext cx="2544206" cy="461665"/>
          </a:xfrm>
          <a:prstGeom prst="rect">
            <a:avLst/>
          </a:prstGeom>
        </p:spPr>
        <p:txBody>
          <a:bodyPr wrap="square">
            <a:spAutoFit/>
          </a:bodyPr>
          <a:lstStyle/>
          <a:p>
            <a:pPr lvl="0" algn="ctr"/>
            <a:r>
              <a:rPr lang="en-US" sz="2400" b="1" dirty="0">
                <a:latin typeface="Helvetica Neue" panose="020B0604020202020204" charset="0"/>
                <a:cs typeface="Times New Roman" panose="02020603050405020304" pitchFamily="18" charset="0"/>
              </a:rPr>
              <a:t>Others</a:t>
            </a:r>
            <a:endParaRPr lang="en-US" sz="4000" b="1" dirty="0">
              <a:latin typeface="Helvetica Neue" panose="020B0604020202020204"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040"/>
                                        </p:tgtEl>
                                        <p:attrNameLst>
                                          <p:attrName>style.visibility</p:attrName>
                                        </p:attrNameLst>
                                      </p:cBhvr>
                                      <p:to>
                                        <p:strVal val="visible"/>
                                      </p:to>
                                    </p:set>
                                    <p:animEffect transition="in" filter="circle(in)">
                                      <p:cBhvr>
                                        <p:cTn id="7" dur="2000"/>
                                        <p:tgtEl>
                                          <p:spTgt spid="1040"/>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circle(in)">
                                      <p:cBhvr>
                                        <p:cTn id="10"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D1145604-1DEE-4A59-A7B6-C55E12F41BC9}"/>
              </a:ext>
            </a:extLst>
          </p:cNvPr>
          <p:cNvSpPr txBox="1"/>
          <p:nvPr/>
        </p:nvSpPr>
        <p:spPr>
          <a:xfrm>
            <a:off x="1800771" y="4178499"/>
            <a:ext cx="1551482" cy="307777"/>
          </a:xfrm>
          <a:prstGeom prst="rect">
            <a:avLst/>
          </a:prstGeom>
          <a:noFill/>
        </p:spPr>
        <p:txBody>
          <a:bodyPr wrap="square" rtlCol="0">
            <a:spAutoFit/>
          </a:bodyPr>
          <a:lstStyle/>
          <a:p>
            <a:pPr algn="ctr"/>
            <a:r>
              <a:rPr lang="en-US" dirty="0"/>
              <a:t>Number of </a:t>
            </a:r>
            <a:r>
              <a:rPr lang="en-US" dirty="0">
                <a:latin typeface="Helvetica Neue" panose="020B0604020202020204" charset="0"/>
              </a:rPr>
              <a:t>Trees</a:t>
            </a:r>
          </a:p>
        </p:txBody>
      </p:sp>
      <p:sp>
        <p:nvSpPr>
          <p:cNvPr id="10" name="TextBox 9">
            <a:extLst>
              <a:ext uri="{FF2B5EF4-FFF2-40B4-BE49-F238E27FC236}">
                <a16:creationId xmlns:a16="http://schemas.microsoft.com/office/drawing/2014/main" id="{E00B5FF4-7AA6-4860-A4C2-AE026FC10E8B}"/>
              </a:ext>
            </a:extLst>
          </p:cNvPr>
          <p:cNvSpPr txBox="1"/>
          <p:nvPr/>
        </p:nvSpPr>
        <p:spPr>
          <a:xfrm rot="5400000">
            <a:off x="473522" y="2575024"/>
            <a:ext cx="1551482" cy="307777"/>
          </a:xfrm>
          <a:prstGeom prst="rect">
            <a:avLst/>
          </a:prstGeom>
          <a:noFill/>
        </p:spPr>
        <p:txBody>
          <a:bodyPr wrap="square" rtlCol="0">
            <a:spAutoFit/>
          </a:bodyPr>
          <a:lstStyle/>
          <a:p>
            <a:pPr algn="ctr"/>
            <a:r>
              <a:rPr lang="en-US" dirty="0">
                <a:latin typeface="Helvetica Neue" panose="020B0604020202020204" charset="0"/>
              </a:rPr>
              <a:t>Time</a:t>
            </a:r>
          </a:p>
        </p:txBody>
      </p:sp>
      <p:cxnSp>
        <p:nvCxnSpPr>
          <p:cNvPr id="3" name="Straight Arrow Connector 2">
            <a:extLst>
              <a:ext uri="{FF2B5EF4-FFF2-40B4-BE49-F238E27FC236}">
                <a16:creationId xmlns:a16="http://schemas.microsoft.com/office/drawing/2014/main" id="{A4CCE21F-FB33-4BAB-96E1-CD72A9237FE2}"/>
              </a:ext>
            </a:extLst>
          </p:cNvPr>
          <p:cNvCxnSpPr/>
          <p:nvPr/>
        </p:nvCxnSpPr>
        <p:spPr>
          <a:xfrm>
            <a:off x="1724025" y="3876675"/>
            <a:ext cx="233362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3CC6A08-93D5-487E-8930-BB897CAD8099}"/>
              </a:ext>
            </a:extLst>
          </p:cNvPr>
          <p:cNvCxnSpPr>
            <a:cxnSpLocks/>
          </p:cNvCxnSpPr>
          <p:nvPr/>
        </p:nvCxnSpPr>
        <p:spPr>
          <a:xfrm flipV="1">
            <a:off x="1714500" y="1581150"/>
            <a:ext cx="0" cy="2295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Freeform: Shape 5">
            <a:extLst>
              <a:ext uri="{FF2B5EF4-FFF2-40B4-BE49-F238E27FC236}">
                <a16:creationId xmlns:a16="http://schemas.microsoft.com/office/drawing/2014/main" id="{34C8E8CD-9D55-4BA0-BC22-FB8998F73867}"/>
              </a:ext>
            </a:extLst>
          </p:cNvPr>
          <p:cNvSpPr/>
          <p:nvPr/>
        </p:nvSpPr>
        <p:spPr>
          <a:xfrm>
            <a:off x="1714500" y="3267075"/>
            <a:ext cx="1724025" cy="613873"/>
          </a:xfrm>
          <a:custGeom>
            <a:avLst/>
            <a:gdLst>
              <a:gd name="connsiteX0" fmla="*/ 0 w 1724025"/>
              <a:gd name="connsiteY0" fmla="*/ 609600 h 613873"/>
              <a:gd name="connsiteX1" fmla="*/ 962025 w 1724025"/>
              <a:gd name="connsiteY1" fmla="*/ 523875 h 613873"/>
              <a:gd name="connsiteX2" fmla="*/ 1724025 w 1724025"/>
              <a:gd name="connsiteY2" fmla="*/ 0 h 613873"/>
            </a:gdLst>
            <a:ahLst/>
            <a:cxnLst>
              <a:cxn ang="0">
                <a:pos x="connsiteX0" y="connsiteY0"/>
              </a:cxn>
              <a:cxn ang="0">
                <a:pos x="connsiteX1" y="connsiteY1"/>
              </a:cxn>
              <a:cxn ang="0">
                <a:pos x="connsiteX2" y="connsiteY2"/>
              </a:cxn>
            </a:cxnLst>
            <a:rect l="l" t="t" r="r" b="b"/>
            <a:pathLst>
              <a:path w="1724025" h="613873">
                <a:moveTo>
                  <a:pt x="0" y="609600"/>
                </a:moveTo>
                <a:cubicBezTo>
                  <a:pt x="337344" y="617537"/>
                  <a:pt x="674688" y="625475"/>
                  <a:pt x="962025" y="523875"/>
                </a:cubicBezTo>
                <a:cubicBezTo>
                  <a:pt x="1249362" y="422275"/>
                  <a:pt x="1724025" y="0"/>
                  <a:pt x="1724025"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626AF06-0B7D-4BDF-B7C5-8008E4B06CBC}"/>
              </a:ext>
            </a:extLst>
          </p:cNvPr>
          <p:cNvSpPr txBox="1"/>
          <p:nvPr/>
        </p:nvSpPr>
        <p:spPr>
          <a:xfrm>
            <a:off x="1724025" y="3876675"/>
            <a:ext cx="2143125" cy="307777"/>
          </a:xfrm>
          <a:prstGeom prst="rect">
            <a:avLst/>
          </a:prstGeom>
          <a:noFill/>
        </p:spPr>
        <p:txBody>
          <a:bodyPr wrap="square" rtlCol="0">
            <a:spAutoFit/>
          </a:bodyPr>
          <a:lstStyle/>
          <a:p>
            <a:r>
              <a:rPr lang="en-US" dirty="0"/>
              <a:t>1	2	3</a:t>
            </a:r>
          </a:p>
        </p:txBody>
      </p:sp>
      <p:sp>
        <p:nvSpPr>
          <p:cNvPr id="8" name="TextBox 7">
            <a:extLst>
              <a:ext uri="{FF2B5EF4-FFF2-40B4-BE49-F238E27FC236}">
                <a16:creationId xmlns:a16="http://schemas.microsoft.com/office/drawing/2014/main" id="{DC60CF13-959E-4E3A-A863-26E49D62877D}"/>
              </a:ext>
            </a:extLst>
          </p:cNvPr>
          <p:cNvSpPr txBox="1"/>
          <p:nvPr/>
        </p:nvSpPr>
        <p:spPr>
          <a:xfrm>
            <a:off x="1412677" y="1874470"/>
            <a:ext cx="311348" cy="2031325"/>
          </a:xfrm>
          <a:prstGeom prst="rect">
            <a:avLst/>
          </a:prstGeom>
          <a:noFill/>
        </p:spPr>
        <p:txBody>
          <a:bodyPr wrap="square" rtlCol="0">
            <a:spAutoFit/>
          </a:bodyPr>
          <a:lstStyle/>
          <a:p>
            <a:r>
              <a:rPr lang="en-US" dirty="0"/>
              <a:t>3</a:t>
            </a:r>
          </a:p>
          <a:p>
            <a:endParaRPr lang="en-US" dirty="0"/>
          </a:p>
          <a:p>
            <a:endParaRPr lang="en-US" dirty="0"/>
          </a:p>
          <a:p>
            <a:endParaRPr lang="en-US" dirty="0"/>
          </a:p>
          <a:p>
            <a:r>
              <a:rPr lang="en-US" dirty="0"/>
              <a:t>2</a:t>
            </a:r>
          </a:p>
          <a:p>
            <a:endParaRPr lang="en-US" dirty="0"/>
          </a:p>
          <a:p>
            <a:endParaRPr lang="en-US" dirty="0"/>
          </a:p>
          <a:p>
            <a:endParaRPr lang="en-US" dirty="0"/>
          </a:p>
          <a:p>
            <a:r>
              <a:rPr lang="en-US" dirty="0"/>
              <a:t>1</a:t>
            </a:r>
          </a:p>
        </p:txBody>
      </p:sp>
    </p:spTree>
    <p:extLst>
      <p:ext uri="{BB962C8B-B14F-4D97-AF65-F5344CB8AC3E}">
        <p14:creationId xmlns:p14="http://schemas.microsoft.com/office/powerpoint/2010/main" val="23871022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01ADAD8-A514-46D0-A77E-6708062FB320}"/>
              </a:ext>
            </a:extLst>
          </p:cNvPr>
          <p:cNvSpPr txBox="1"/>
          <p:nvPr/>
        </p:nvSpPr>
        <p:spPr>
          <a:xfrm>
            <a:off x="1800771" y="4178499"/>
            <a:ext cx="1551482" cy="307777"/>
          </a:xfrm>
          <a:prstGeom prst="rect">
            <a:avLst/>
          </a:prstGeom>
          <a:noFill/>
        </p:spPr>
        <p:txBody>
          <a:bodyPr wrap="square" rtlCol="0">
            <a:spAutoFit/>
          </a:bodyPr>
          <a:lstStyle/>
          <a:p>
            <a:pPr algn="ctr"/>
            <a:r>
              <a:rPr lang="en-US" dirty="0"/>
              <a:t>Number of </a:t>
            </a:r>
            <a:r>
              <a:rPr lang="en-US" dirty="0">
                <a:latin typeface="Helvetica Neue" panose="020B0604020202020204" charset="0"/>
              </a:rPr>
              <a:t>Trees</a:t>
            </a:r>
          </a:p>
        </p:txBody>
      </p:sp>
      <p:sp>
        <p:nvSpPr>
          <p:cNvPr id="13" name="TextBox 12">
            <a:extLst>
              <a:ext uri="{FF2B5EF4-FFF2-40B4-BE49-F238E27FC236}">
                <a16:creationId xmlns:a16="http://schemas.microsoft.com/office/drawing/2014/main" id="{C063C180-3EAF-4B96-9B42-E459758564D2}"/>
              </a:ext>
            </a:extLst>
          </p:cNvPr>
          <p:cNvSpPr txBox="1"/>
          <p:nvPr/>
        </p:nvSpPr>
        <p:spPr>
          <a:xfrm rot="5400000">
            <a:off x="473522" y="2575024"/>
            <a:ext cx="1551482" cy="307777"/>
          </a:xfrm>
          <a:prstGeom prst="rect">
            <a:avLst/>
          </a:prstGeom>
          <a:noFill/>
        </p:spPr>
        <p:txBody>
          <a:bodyPr wrap="square" rtlCol="0">
            <a:spAutoFit/>
          </a:bodyPr>
          <a:lstStyle/>
          <a:p>
            <a:pPr algn="ctr"/>
            <a:r>
              <a:rPr lang="en-US" dirty="0">
                <a:latin typeface="Helvetica Neue" panose="020B0604020202020204" charset="0"/>
              </a:rPr>
              <a:t>Time</a:t>
            </a:r>
          </a:p>
        </p:txBody>
      </p:sp>
      <p:cxnSp>
        <p:nvCxnSpPr>
          <p:cNvPr id="14" name="Straight Arrow Connector 13">
            <a:extLst>
              <a:ext uri="{FF2B5EF4-FFF2-40B4-BE49-F238E27FC236}">
                <a16:creationId xmlns:a16="http://schemas.microsoft.com/office/drawing/2014/main" id="{A1B74652-855E-4D75-BEC0-F3DBDA833E7F}"/>
              </a:ext>
            </a:extLst>
          </p:cNvPr>
          <p:cNvCxnSpPr>
            <a:cxnSpLocks/>
          </p:cNvCxnSpPr>
          <p:nvPr/>
        </p:nvCxnSpPr>
        <p:spPr>
          <a:xfrm>
            <a:off x="1724025" y="3876675"/>
            <a:ext cx="313372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0095439-B28E-4087-937B-E291300202EF}"/>
              </a:ext>
            </a:extLst>
          </p:cNvPr>
          <p:cNvCxnSpPr>
            <a:cxnSpLocks/>
          </p:cNvCxnSpPr>
          <p:nvPr/>
        </p:nvCxnSpPr>
        <p:spPr>
          <a:xfrm flipV="1">
            <a:off x="1714500" y="1438275"/>
            <a:ext cx="9525" cy="24384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F56E1AA-0C2A-43CC-A1C7-8091B574A422}"/>
              </a:ext>
            </a:extLst>
          </p:cNvPr>
          <p:cNvSpPr txBox="1"/>
          <p:nvPr/>
        </p:nvSpPr>
        <p:spPr>
          <a:xfrm>
            <a:off x="1724025" y="3876675"/>
            <a:ext cx="3133725" cy="307777"/>
          </a:xfrm>
          <a:prstGeom prst="rect">
            <a:avLst/>
          </a:prstGeom>
          <a:noFill/>
        </p:spPr>
        <p:txBody>
          <a:bodyPr wrap="square" rtlCol="0">
            <a:spAutoFit/>
          </a:bodyPr>
          <a:lstStyle/>
          <a:p>
            <a:r>
              <a:rPr lang="en-US" dirty="0"/>
              <a:t>1	2	3	4</a:t>
            </a:r>
          </a:p>
        </p:txBody>
      </p:sp>
      <p:sp>
        <p:nvSpPr>
          <p:cNvPr id="18" name="TextBox 17">
            <a:extLst>
              <a:ext uri="{FF2B5EF4-FFF2-40B4-BE49-F238E27FC236}">
                <a16:creationId xmlns:a16="http://schemas.microsoft.com/office/drawing/2014/main" id="{73F2BD87-1831-4DD2-BA9C-418D41B698AC}"/>
              </a:ext>
            </a:extLst>
          </p:cNvPr>
          <p:cNvSpPr txBox="1"/>
          <p:nvPr/>
        </p:nvSpPr>
        <p:spPr>
          <a:xfrm>
            <a:off x="1412677" y="1874470"/>
            <a:ext cx="311348" cy="2031325"/>
          </a:xfrm>
          <a:prstGeom prst="rect">
            <a:avLst/>
          </a:prstGeom>
          <a:noFill/>
        </p:spPr>
        <p:txBody>
          <a:bodyPr wrap="square" rtlCol="0">
            <a:spAutoFit/>
          </a:bodyPr>
          <a:lstStyle/>
          <a:p>
            <a:r>
              <a:rPr lang="en-US" dirty="0"/>
              <a:t>5</a:t>
            </a:r>
          </a:p>
          <a:p>
            <a:endParaRPr lang="en-US" dirty="0"/>
          </a:p>
          <a:p>
            <a:r>
              <a:rPr lang="en-US" dirty="0"/>
              <a:t>4</a:t>
            </a:r>
          </a:p>
          <a:p>
            <a:endParaRPr lang="en-US" dirty="0"/>
          </a:p>
          <a:p>
            <a:r>
              <a:rPr lang="en-US" dirty="0"/>
              <a:t>3</a:t>
            </a:r>
          </a:p>
          <a:p>
            <a:endParaRPr lang="en-US" dirty="0"/>
          </a:p>
          <a:p>
            <a:r>
              <a:rPr lang="en-US" dirty="0"/>
              <a:t>2</a:t>
            </a:r>
          </a:p>
          <a:p>
            <a:endParaRPr lang="en-US" dirty="0"/>
          </a:p>
          <a:p>
            <a:r>
              <a:rPr lang="en-US" dirty="0"/>
              <a:t>1</a:t>
            </a:r>
          </a:p>
        </p:txBody>
      </p:sp>
      <p:sp>
        <p:nvSpPr>
          <p:cNvPr id="20" name="Freeform: Shape 19">
            <a:extLst>
              <a:ext uri="{FF2B5EF4-FFF2-40B4-BE49-F238E27FC236}">
                <a16:creationId xmlns:a16="http://schemas.microsoft.com/office/drawing/2014/main" id="{932B5641-8D94-4877-98A7-255618C5B8A5}"/>
              </a:ext>
            </a:extLst>
          </p:cNvPr>
          <p:cNvSpPr/>
          <p:nvPr/>
        </p:nvSpPr>
        <p:spPr>
          <a:xfrm>
            <a:off x="1724025" y="1928761"/>
            <a:ext cx="2209800" cy="1947916"/>
          </a:xfrm>
          <a:custGeom>
            <a:avLst/>
            <a:gdLst>
              <a:gd name="connsiteX0" fmla="*/ 0 w 2209800"/>
              <a:gd name="connsiteY0" fmla="*/ 1924050 h 1947916"/>
              <a:gd name="connsiteX1" fmla="*/ 923925 w 2209800"/>
              <a:gd name="connsiteY1" fmla="*/ 1876425 h 1947916"/>
              <a:gd name="connsiteX2" fmla="*/ 1752600 w 2209800"/>
              <a:gd name="connsiteY2" fmla="*/ 1323975 h 1947916"/>
              <a:gd name="connsiteX3" fmla="*/ 2209800 w 2209800"/>
              <a:gd name="connsiteY3" fmla="*/ 0 h 1947916"/>
            </a:gdLst>
            <a:ahLst/>
            <a:cxnLst>
              <a:cxn ang="0">
                <a:pos x="connsiteX0" y="connsiteY0"/>
              </a:cxn>
              <a:cxn ang="0">
                <a:pos x="connsiteX1" y="connsiteY1"/>
              </a:cxn>
              <a:cxn ang="0">
                <a:pos x="connsiteX2" y="connsiteY2"/>
              </a:cxn>
              <a:cxn ang="0">
                <a:pos x="connsiteX3" y="connsiteY3"/>
              </a:cxn>
            </a:cxnLst>
            <a:rect l="l" t="t" r="r" b="b"/>
            <a:pathLst>
              <a:path w="2209800" h="1947916">
                <a:moveTo>
                  <a:pt x="0" y="1924050"/>
                </a:moveTo>
                <a:cubicBezTo>
                  <a:pt x="315912" y="1950244"/>
                  <a:pt x="631825" y="1976438"/>
                  <a:pt x="923925" y="1876425"/>
                </a:cubicBezTo>
                <a:cubicBezTo>
                  <a:pt x="1216025" y="1776412"/>
                  <a:pt x="1538288" y="1636712"/>
                  <a:pt x="1752600" y="1323975"/>
                </a:cubicBezTo>
                <a:cubicBezTo>
                  <a:pt x="1966912" y="1011238"/>
                  <a:pt x="2119312" y="252413"/>
                  <a:pt x="2209800"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220379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49DF0BD-5BA5-425B-944D-0B1EBA4DAF28}"/>
              </a:ext>
            </a:extLst>
          </p:cNvPr>
          <p:cNvSpPr txBox="1"/>
          <p:nvPr/>
        </p:nvSpPr>
        <p:spPr>
          <a:xfrm>
            <a:off x="1800771" y="4178499"/>
            <a:ext cx="1551482" cy="307777"/>
          </a:xfrm>
          <a:prstGeom prst="rect">
            <a:avLst/>
          </a:prstGeom>
          <a:noFill/>
        </p:spPr>
        <p:txBody>
          <a:bodyPr wrap="square" rtlCol="0">
            <a:spAutoFit/>
          </a:bodyPr>
          <a:lstStyle/>
          <a:p>
            <a:pPr algn="ctr"/>
            <a:r>
              <a:rPr lang="en-US" dirty="0"/>
              <a:t>Number of </a:t>
            </a:r>
            <a:r>
              <a:rPr lang="en-US" dirty="0">
                <a:latin typeface="Helvetica Neue" panose="020B0604020202020204" charset="0"/>
              </a:rPr>
              <a:t>Trees</a:t>
            </a:r>
          </a:p>
        </p:txBody>
      </p:sp>
      <p:sp>
        <p:nvSpPr>
          <p:cNvPr id="7" name="TextBox 6">
            <a:extLst>
              <a:ext uri="{FF2B5EF4-FFF2-40B4-BE49-F238E27FC236}">
                <a16:creationId xmlns:a16="http://schemas.microsoft.com/office/drawing/2014/main" id="{C59E6292-A6E0-40BB-AAAB-93F08691464D}"/>
              </a:ext>
            </a:extLst>
          </p:cNvPr>
          <p:cNvSpPr txBox="1"/>
          <p:nvPr/>
        </p:nvSpPr>
        <p:spPr>
          <a:xfrm rot="5400000">
            <a:off x="473522" y="2575024"/>
            <a:ext cx="1551482" cy="307777"/>
          </a:xfrm>
          <a:prstGeom prst="rect">
            <a:avLst/>
          </a:prstGeom>
          <a:noFill/>
        </p:spPr>
        <p:txBody>
          <a:bodyPr wrap="square" rtlCol="0">
            <a:spAutoFit/>
          </a:bodyPr>
          <a:lstStyle/>
          <a:p>
            <a:pPr algn="ctr"/>
            <a:r>
              <a:rPr lang="en-US" dirty="0">
                <a:latin typeface="Helvetica Neue" panose="020B0604020202020204" charset="0"/>
              </a:rPr>
              <a:t>Time</a:t>
            </a:r>
          </a:p>
        </p:txBody>
      </p:sp>
      <p:cxnSp>
        <p:nvCxnSpPr>
          <p:cNvPr id="8" name="Straight Arrow Connector 7">
            <a:extLst>
              <a:ext uri="{FF2B5EF4-FFF2-40B4-BE49-F238E27FC236}">
                <a16:creationId xmlns:a16="http://schemas.microsoft.com/office/drawing/2014/main" id="{5381A4F1-BA1A-4899-87A1-59ABC8AAA806}"/>
              </a:ext>
            </a:extLst>
          </p:cNvPr>
          <p:cNvCxnSpPr>
            <a:cxnSpLocks/>
          </p:cNvCxnSpPr>
          <p:nvPr/>
        </p:nvCxnSpPr>
        <p:spPr>
          <a:xfrm flipV="1">
            <a:off x="1724025" y="3867150"/>
            <a:ext cx="4543425" cy="9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BFC9415-9FA6-405F-8557-53EC7158DC0C}"/>
              </a:ext>
            </a:extLst>
          </p:cNvPr>
          <p:cNvCxnSpPr>
            <a:cxnSpLocks/>
          </p:cNvCxnSpPr>
          <p:nvPr/>
        </p:nvCxnSpPr>
        <p:spPr>
          <a:xfrm flipV="1">
            <a:off x="1714500" y="961329"/>
            <a:ext cx="9525" cy="2915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B0F08422-0219-45B5-9295-CCA341500116}"/>
              </a:ext>
            </a:extLst>
          </p:cNvPr>
          <p:cNvSpPr txBox="1"/>
          <p:nvPr/>
        </p:nvSpPr>
        <p:spPr>
          <a:xfrm>
            <a:off x="1724025" y="3876675"/>
            <a:ext cx="4238625" cy="307777"/>
          </a:xfrm>
          <a:prstGeom prst="rect">
            <a:avLst/>
          </a:prstGeom>
          <a:noFill/>
        </p:spPr>
        <p:txBody>
          <a:bodyPr wrap="square" rtlCol="0">
            <a:spAutoFit/>
          </a:bodyPr>
          <a:lstStyle/>
          <a:p>
            <a:r>
              <a:rPr lang="en-US" dirty="0"/>
              <a:t>1	2	3	4	5</a:t>
            </a:r>
          </a:p>
        </p:txBody>
      </p:sp>
      <p:sp>
        <p:nvSpPr>
          <p:cNvPr id="14" name="TextBox 13">
            <a:extLst>
              <a:ext uri="{FF2B5EF4-FFF2-40B4-BE49-F238E27FC236}">
                <a16:creationId xmlns:a16="http://schemas.microsoft.com/office/drawing/2014/main" id="{2EE661A5-4E58-4EE3-86DF-862773C5A56A}"/>
              </a:ext>
            </a:extLst>
          </p:cNvPr>
          <p:cNvSpPr txBox="1"/>
          <p:nvPr/>
        </p:nvSpPr>
        <p:spPr>
          <a:xfrm>
            <a:off x="1295400" y="961329"/>
            <a:ext cx="409575" cy="2893100"/>
          </a:xfrm>
          <a:prstGeom prst="rect">
            <a:avLst/>
          </a:prstGeom>
          <a:noFill/>
        </p:spPr>
        <p:txBody>
          <a:bodyPr wrap="square" rtlCol="0">
            <a:spAutoFit/>
          </a:bodyPr>
          <a:lstStyle/>
          <a:p>
            <a:r>
              <a:rPr lang="en-US" dirty="0"/>
              <a:t>13121110</a:t>
            </a:r>
          </a:p>
          <a:p>
            <a:r>
              <a:rPr lang="en-US" dirty="0"/>
              <a:t>9</a:t>
            </a:r>
          </a:p>
          <a:p>
            <a:r>
              <a:rPr lang="en-US" dirty="0"/>
              <a:t>8</a:t>
            </a:r>
          </a:p>
          <a:p>
            <a:r>
              <a:rPr lang="en-US" dirty="0"/>
              <a:t>7</a:t>
            </a:r>
          </a:p>
          <a:p>
            <a:r>
              <a:rPr lang="en-US" dirty="0"/>
              <a:t>6</a:t>
            </a:r>
          </a:p>
          <a:p>
            <a:r>
              <a:rPr lang="en-US" dirty="0"/>
              <a:t>5</a:t>
            </a:r>
          </a:p>
          <a:p>
            <a:r>
              <a:rPr lang="en-US" dirty="0"/>
              <a:t>4</a:t>
            </a:r>
          </a:p>
          <a:p>
            <a:r>
              <a:rPr lang="en-US" dirty="0"/>
              <a:t>3</a:t>
            </a:r>
          </a:p>
          <a:p>
            <a:r>
              <a:rPr lang="en-US" dirty="0"/>
              <a:t>2</a:t>
            </a:r>
          </a:p>
          <a:p>
            <a:r>
              <a:rPr lang="en-US" dirty="0"/>
              <a:t>1</a:t>
            </a:r>
          </a:p>
        </p:txBody>
      </p:sp>
      <p:sp>
        <p:nvSpPr>
          <p:cNvPr id="4" name="Freeform: Shape 3">
            <a:extLst>
              <a:ext uri="{FF2B5EF4-FFF2-40B4-BE49-F238E27FC236}">
                <a16:creationId xmlns:a16="http://schemas.microsoft.com/office/drawing/2014/main" id="{E5535DB6-F3B0-4E05-990C-4A8C676FAB45}"/>
              </a:ext>
            </a:extLst>
          </p:cNvPr>
          <p:cNvSpPr/>
          <p:nvPr/>
        </p:nvSpPr>
        <p:spPr>
          <a:xfrm>
            <a:off x="1733550" y="961329"/>
            <a:ext cx="2325090" cy="2886227"/>
          </a:xfrm>
          <a:custGeom>
            <a:avLst/>
            <a:gdLst>
              <a:gd name="connsiteX0" fmla="*/ 0 w 2325090"/>
              <a:gd name="connsiteY0" fmla="*/ 2876550 h 2886227"/>
              <a:gd name="connsiteX1" fmla="*/ 1504950 w 2325090"/>
              <a:gd name="connsiteY1" fmla="*/ 2638425 h 2886227"/>
              <a:gd name="connsiteX2" fmla="*/ 2162175 w 2325090"/>
              <a:gd name="connsiteY2" fmla="*/ 1219200 h 2886227"/>
              <a:gd name="connsiteX3" fmla="*/ 2314575 w 2325090"/>
              <a:gd name="connsiteY3" fmla="*/ 0 h 2886227"/>
            </a:gdLst>
            <a:ahLst/>
            <a:cxnLst>
              <a:cxn ang="0">
                <a:pos x="connsiteX0" y="connsiteY0"/>
              </a:cxn>
              <a:cxn ang="0">
                <a:pos x="connsiteX1" y="connsiteY1"/>
              </a:cxn>
              <a:cxn ang="0">
                <a:pos x="connsiteX2" y="connsiteY2"/>
              </a:cxn>
              <a:cxn ang="0">
                <a:pos x="connsiteX3" y="connsiteY3"/>
              </a:cxn>
            </a:cxnLst>
            <a:rect l="l" t="t" r="r" b="b"/>
            <a:pathLst>
              <a:path w="2325090" h="2886227">
                <a:moveTo>
                  <a:pt x="0" y="2876550"/>
                </a:moveTo>
                <a:cubicBezTo>
                  <a:pt x="572293" y="2895600"/>
                  <a:pt x="1144587" y="2914650"/>
                  <a:pt x="1504950" y="2638425"/>
                </a:cubicBezTo>
                <a:cubicBezTo>
                  <a:pt x="1865313" y="2362200"/>
                  <a:pt x="2027238" y="1658937"/>
                  <a:pt x="2162175" y="1219200"/>
                </a:cubicBezTo>
                <a:cubicBezTo>
                  <a:pt x="2297112" y="779463"/>
                  <a:pt x="2349500" y="273050"/>
                  <a:pt x="2314575"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22251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Shape 163"/>
          <p:cNvSpPr txBox="1"/>
          <p:nvPr/>
        </p:nvSpPr>
        <p:spPr>
          <a:xfrm>
            <a:off x="760425" y="602000"/>
            <a:ext cx="1679400" cy="1014000"/>
          </a:xfrm>
          <a:prstGeom prst="rect">
            <a:avLst/>
          </a:prstGeom>
          <a:noFill/>
          <a:ln>
            <a:noFill/>
          </a:ln>
        </p:spPr>
        <p:txBody>
          <a:bodyPr spcFirstLastPara="1" wrap="square" lIns="91425" tIns="91425" rIns="91425" bIns="91425" anchor="t" anchorCtr="0">
            <a:noAutofit/>
          </a:bodyPr>
          <a:lstStyle/>
          <a:p>
            <a:pPr marL="0" lvl="0" indent="0">
              <a:spcBef>
                <a:spcPts val="0"/>
              </a:spcBef>
              <a:spcAft>
                <a:spcPts val="0"/>
              </a:spcAft>
              <a:buNone/>
            </a:pPr>
            <a:r>
              <a:rPr lang="en"/>
              <a:t>Motivation: present other methods and how slow they are</a:t>
            </a:r>
            <a:endParaRPr/>
          </a:p>
          <a:p>
            <a:pPr marL="0" lvl="0" indent="0">
              <a:spcBef>
                <a:spcPts val="0"/>
              </a:spcBef>
              <a:spcAft>
                <a:spcPts val="0"/>
              </a:spcAft>
              <a:buNone/>
            </a:pPr>
            <a:endParaRPr/>
          </a:p>
          <a:p>
            <a:pPr marL="0" lvl="0" indent="0">
              <a:spcBef>
                <a:spcPts val="0"/>
              </a:spcBef>
              <a:spcAft>
                <a:spcPts val="0"/>
              </a:spcAft>
              <a:buNone/>
            </a:pPr>
            <a:r>
              <a:rPr lang="en"/>
              <a:t>Our work: divide and conquer approach</a:t>
            </a:r>
            <a:endParaRPr/>
          </a:p>
        </p:txBody>
      </p:sp>
      <p:pic>
        <p:nvPicPr>
          <p:cNvPr id="164" name="Shape 164"/>
          <p:cNvPicPr preferRelativeResize="0"/>
          <p:nvPr/>
        </p:nvPicPr>
        <p:blipFill>
          <a:blip r:embed="rId3">
            <a:alphaModFix/>
          </a:blip>
          <a:stretch>
            <a:fillRect/>
          </a:stretch>
        </p:blipFill>
        <p:spPr>
          <a:xfrm>
            <a:off x="1684813" y="377200"/>
            <a:ext cx="5692333" cy="43891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Shape 169"/>
          <p:cNvSpPr txBox="1"/>
          <p:nvPr/>
        </p:nvSpPr>
        <p:spPr>
          <a:xfrm>
            <a:off x="591450" y="654825"/>
            <a:ext cx="7974000" cy="1151100"/>
          </a:xfrm>
          <a:prstGeom prst="rect">
            <a:avLst/>
          </a:prstGeom>
          <a:noFill/>
          <a:ln>
            <a:noFill/>
          </a:ln>
        </p:spPr>
        <p:txBody>
          <a:bodyPr spcFirstLastPara="1" wrap="square" lIns="91425" tIns="91425" rIns="91425" bIns="91425" anchor="t" anchorCtr="0">
            <a:noAutofit/>
          </a:bodyPr>
          <a:lstStyle/>
          <a:p>
            <a:pPr marL="0" lvl="0" indent="0">
              <a:spcBef>
                <a:spcPts val="0"/>
              </a:spcBef>
              <a:spcAft>
                <a:spcPts val="0"/>
              </a:spcAft>
              <a:buNone/>
            </a:pPr>
            <a:r>
              <a:rPr lang="en"/>
              <a:t>Specifics of how the method is done, not many details: reconstruct network from </a:t>
            </a:r>
            <a:r>
              <a:rPr lang="en" b="1"/>
              <a:t>triplets</a:t>
            </a:r>
            <a:endParaRPr b="1"/>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3945</TotalTime>
  <Words>255</Words>
  <Application>Microsoft Office PowerPoint</Application>
  <PresentationFormat>On-screen Show (16:9)</PresentationFormat>
  <Paragraphs>52</Paragraphs>
  <Slides>18</Slides>
  <Notes>12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18</vt:i4>
      </vt:variant>
    </vt:vector>
  </HeadingPairs>
  <TitlesOfParts>
    <vt:vector size="25" baseType="lpstr">
      <vt:lpstr>Times New Roman</vt:lpstr>
      <vt:lpstr>Helvetica Neue Light</vt:lpstr>
      <vt:lpstr>Jokerman</vt:lpstr>
      <vt:lpstr>Helvetica Neue</vt:lpstr>
      <vt:lpstr>Arial</vt:lpstr>
      <vt:lpstr>Simple Light</vt:lpstr>
      <vt:lpstr>White</vt:lpstr>
      <vt:lpstr>Phylogenetic 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Phylogenetics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Phylogenetic Introduction</dc:title>
  <dc:creator>Naman Kanwar</dc:creator>
  <cp:lastModifiedBy>Naman Kanwar</cp:lastModifiedBy>
  <cp:revision>33</cp:revision>
  <dcterms:modified xsi:type="dcterms:W3CDTF">2018-03-29T00:19:18Z</dcterms:modified>
</cp:coreProperties>
</file>